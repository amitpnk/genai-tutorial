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462469"/>
            <a:ext cx="736568" cy="47625"/>
          </a:xfrm>
          <a:prstGeom prst="rect">
            <a:avLst/>
          </a:prstGeom>
          <a:solidFill>
            <a:srgbClr val="0C7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50968" y="1462469"/>
            <a:ext cx="736568" cy="47625"/>
          </a:xfrm>
          <a:prstGeom prst="rect">
            <a:avLst/>
          </a:prstGeom>
          <a:solidFill>
            <a:srgbClr val="A26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387536" y="1462469"/>
            <a:ext cx="736568" cy="47625"/>
          </a:xfrm>
          <a:prstGeom prst="rect">
            <a:avLst/>
          </a:prstGeom>
          <a:solidFill>
            <a:srgbClr val="A9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2742"/>
            <a:ext cx="7810500" cy="16504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6273"/>
              </a:lnSpc>
              <a:spcBef>
                <a:spcPts val="0"/>
              </a:spcBef>
              <a:spcAft>
                <a:spcPts val="0"/>
              </a:spcAft>
            </a:pPr>
            <a:r>
              <a:rPr sz="6150" b="1" i="0">
                <a:solidFill>
                  <a:srgbClr val="121820"/>
                </a:solidFill>
                <a:latin typeface="Segoe UI"/>
              </a:rPr>
              <a:t>Three Words, Three</a:t>
            </a:r>
          </a:p>
          <a:p>
            <a:pPr>
              <a:lnSpc>
                <a:spcPts val="6273"/>
              </a:lnSpc>
              <a:spcBef>
                <a:spcPts val="0"/>
              </a:spcBef>
              <a:spcAft>
                <a:spcPts val="0"/>
              </a:spcAft>
            </a:pPr>
            <a:r>
              <a:rPr sz="6150" b="1" i="0">
                <a:solidFill>
                  <a:srgbClr val="121820"/>
                </a:solidFill>
                <a:latin typeface="Segoe UI"/>
              </a:rPr>
              <a:t>Different Things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86056"/>
            <a:ext cx="6943725" cy="116814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915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>
                <a:solidFill>
                  <a:srgbClr val="515C68"/>
                </a:solidFill>
                <a:latin typeface="Georgia"/>
              </a:rPr>
              <a:t>Generative AI, AI agents, and agentic AI. What each one</a:t>
            </a:r>
          </a:p>
          <a:p>
            <a:pPr>
              <a:lnSpc>
                <a:spcPts val="2915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>
                <a:solidFill>
                  <a:srgbClr val="515C68"/>
                </a:solidFill>
                <a:latin typeface="Georgia"/>
              </a:rPr>
              <a:t>actually means, what changes between them, and why the</a:t>
            </a:r>
          </a:p>
          <a:p>
            <a:pPr>
              <a:lnSpc>
                <a:spcPts val="2915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>
                <a:solidFill>
                  <a:srgbClr val="515C68"/>
                </a:solidFill>
                <a:latin typeface="Georgia"/>
              </a:rPr>
              <a:t>difference decides how your system fails.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82476"/>
            <a:ext cx="8572500" cy="23050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84">
                <a:solidFill>
                  <a:srgbClr val="8B96A2"/>
                </a:solidFill>
                <a:latin typeface="Segoe UI"/>
              </a:rPr>
              <a:t>GENERATIVE AI  ·  AI AGENTS  ·  AGENTIC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200150" y="552450"/>
            <a:ext cx="0" cy="571500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709612" y="595312"/>
            <a:ext cx="104775" cy="104775"/>
          </a:xfrm>
          <a:prstGeom prst="ellipse">
            <a:avLst/>
          </a:prstGeom>
          <a:solidFill>
            <a:srgbClr val="515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0550" y="952500"/>
            <a:ext cx="342900" cy="4914900"/>
          </a:xfrm>
          <a:prstGeom prst="rect">
            <a:avLst/>
          </a:prstGeom>
          <a:noFill/>
        </p:spPr>
        <p:txBody>
          <a:bodyPr wrap="none" lIns="0" rIns="0" tIns="0" bIns="0" anchor="ctr" vert="vert270">
            <a:noAutofit/>
          </a:bodyPr>
          <a:lstStyle/>
          <a:p>
            <a:pPr algn="ctr"/>
            <a:r>
              <a:rPr sz="825" spc="157">
                <a:solidFill>
                  <a:srgbClr val="8B96A2"/>
                </a:solidFill>
                <a:latin typeface="Segoe UI Semibold"/>
              </a:rPr>
              <a:t>ORIENTATION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6077331"/>
            <a:ext cx="5715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125"/>
              </a:lnSpc>
            </a:pPr>
            <a:r>
              <a:rPr sz="900" b="0" i="0">
                <a:solidFill>
                  <a:srgbClr val="8B96A2"/>
                </a:solidFill>
                <a:latin typeface="Consola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5450" y="518160"/>
            <a:ext cx="977265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 spc="169">
                <a:solidFill>
                  <a:srgbClr val="515C68"/>
                </a:solidFill>
                <a:latin typeface="Segoe UI Semibold"/>
              </a:rPr>
              <a:t>ORIENTATION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5450" y="739597"/>
            <a:ext cx="9772650" cy="5076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547"/>
              </a:lnSpc>
              <a:spcBef>
                <a:spcPts val="0"/>
              </a:spcBef>
              <a:spcAft>
                <a:spcPts val="0"/>
              </a:spcAft>
            </a:pPr>
            <a:r>
              <a:rPr sz="3225" b="1" i="0">
                <a:solidFill>
                  <a:srgbClr val="121820"/>
                </a:solidFill>
                <a:latin typeface="Segoe UI"/>
              </a:rPr>
              <a:t>The three terms are not three products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5450" y="1443464"/>
            <a:ext cx="8404479" cy="7520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21820"/>
                </a:solidFill>
                <a:latin typeface="Georgia"/>
              </a:rPr>
              <a:t>They get used interchangeably. They shouldn't be — they describe three different</a:t>
            </a:r>
          </a:p>
          <a:p>
            <a:pPr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21820"/>
                </a:solidFill>
                <a:latin typeface="Georgia"/>
              </a:rPr>
              <a:t>layers of the same stack.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95450" y="2548128"/>
            <a:ext cx="85725" cy="19050"/>
          </a:xfrm>
          <a:prstGeom prst="rect">
            <a:avLst/>
          </a:prstGeom>
          <a:solidFill>
            <a:srgbClr val="515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43100" y="2337641"/>
            <a:ext cx="9525000" cy="36823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>
                <a:solidFill>
                  <a:srgbClr val="121820"/>
                </a:solidFill>
                <a:latin typeface="Georgia"/>
              </a:rPr>
              <a:t>Generative AI</a:t>
            </a:r>
            <a:r>
              <a:rPr sz="1725" b="0" i="0">
                <a:solidFill>
                  <a:srgbClr val="121820"/>
                </a:solidFill>
                <a:latin typeface="Georgia"/>
              </a:rPr>
              <a:t> is a </a:t>
            </a:r>
            <a:r>
              <a:rPr sz="1725" b="1" i="0">
                <a:solidFill>
                  <a:srgbClr val="515C68"/>
                </a:solidFill>
                <a:latin typeface="Georgia"/>
              </a:rPr>
              <a:t>kind of model</a:t>
            </a:r>
            <a:r>
              <a:rPr sz="1725" b="0" i="0">
                <a:solidFill>
                  <a:srgbClr val="121820"/>
                </a:solidFill>
                <a:latin typeface="Georgia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95450" y="3002090"/>
            <a:ext cx="85725" cy="19050"/>
          </a:xfrm>
          <a:prstGeom prst="rect">
            <a:avLst/>
          </a:prstGeom>
          <a:solidFill>
            <a:srgbClr val="515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43100" y="2791602"/>
            <a:ext cx="9525000" cy="36823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>
                <a:solidFill>
                  <a:srgbClr val="121820"/>
                </a:solidFill>
                <a:latin typeface="Georgia"/>
              </a:rPr>
              <a:t>An AI agent</a:t>
            </a:r>
            <a:r>
              <a:rPr sz="1725" b="0" i="0">
                <a:solidFill>
                  <a:srgbClr val="121820"/>
                </a:solidFill>
                <a:latin typeface="Georgia"/>
              </a:rPr>
              <a:t> is a </a:t>
            </a:r>
            <a:r>
              <a:rPr sz="1725" b="1" i="0">
                <a:solidFill>
                  <a:srgbClr val="515C68"/>
                </a:solidFill>
                <a:latin typeface="Georgia"/>
              </a:rPr>
              <a:t>system you build around</a:t>
            </a:r>
            <a:r>
              <a:rPr sz="1725" b="0" i="0">
                <a:solidFill>
                  <a:srgbClr val="121820"/>
                </a:solidFill>
                <a:latin typeface="Georgia"/>
              </a:rPr>
              <a:t> that model.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95450" y="3456051"/>
            <a:ext cx="85725" cy="19050"/>
          </a:xfrm>
          <a:prstGeom prst="rect">
            <a:avLst/>
          </a:prstGeom>
          <a:solidFill>
            <a:srgbClr val="515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43100" y="3245564"/>
            <a:ext cx="9525000" cy="36823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>
                <a:solidFill>
                  <a:srgbClr val="121820"/>
                </a:solidFill>
                <a:latin typeface="Georgia"/>
              </a:rPr>
              <a:t>Agentic</a:t>
            </a:r>
            <a:r>
              <a:rPr sz="1725" b="0" i="0">
                <a:solidFill>
                  <a:srgbClr val="121820"/>
                </a:solidFill>
                <a:latin typeface="Georgia"/>
              </a:rPr>
              <a:t> is a </a:t>
            </a:r>
            <a:r>
              <a:rPr sz="1725" b="1" i="0">
                <a:solidFill>
                  <a:srgbClr val="515C68"/>
                </a:solidFill>
                <a:latin typeface="Georgia"/>
              </a:rPr>
              <a:t>property</a:t>
            </a:r>
            <a:r>
              <a:rPr sz="1725" b="0" i="0">
                <a:solidFill>
                  <a:srgbClr val="121820"/>
                </a:solidFill>
                <a:latin typeface="Georgia"/>
              </a:rPr>
              <a:t> that system has more or less of.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95450" y="5505450"/>
            <a:ext cx="9772650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695450" y="5648706"/>
            <a:ext cx="977265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15C68"/>
                </a:solidFill>
                <a:latin typeface="Georgia"/>
              </a:rPr>
              <a:t>You can use generative AI with no agent anywhere. You can build an agent that is barely agentic at all. Keeping</a:t>
            </a:r>
          </a:p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15C68"/>
                </a:solidFill>
                <a:latin typeface="Georgia"/>
              </a:rPr>
              <a:t>the layers separate is what makes a failure diagnosable — </a:t>
            </a:r>
            <a:r>
              <a:rPr sz="1500" b="1" i="0">
                <a:solidFill>
                  <a:srgbClr val="121820"/>
                </a:solidFill>
                <a:latin typeface="Georgia"/>
              </a:rPr>
              <a:t>it tells you which layer to go look 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200150" y="552450"/>
            <a:ext cx="0" cy="571500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709612" y="595312"/>
            <a:ext cx="104775" cy="104775"/>
          </a:xfrm>
          <a:prstGeom prst="ellipse">
            <a:avLst/>
          </a:prstGeom>
          <a:solidFill>
            <a:srgbClr val="515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0550" y="952500"/>
            <a:ext cx="342900" cy="4914900"/>
          </a:xfrm>
          <a:prstGeom prst="rect">
            <a:avLst/>
          </a:prstGeom>
          <a:noFill/>
        </p:spPr>
        <p:txBody>
          <a:bodyPr wrap="none" lIns="0" rIns="0" tIns="0" bIns="0" anchor="ctr" vert="vert270">
            <a:noAutofit/>
          </a:bodyPr>
          <a:lstStyle/>
          <a:p>
            <a:pPr algn="ctr"/>
            <a:r>
              <a:rPr sz="825" spc="157">
                <a:solidFill>
                  <a:srgbClr val="8B96A2"/>
                </a:solidFill>
                <a:latin typeface="Segoe UI Semibold"/>
              </a:rPr>
              <a:t>ORIENTATION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6077331"/>
            <a:ext cx="5715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125"/>
              </a:lnSpc>
            </a:pPr>
            <a:r>
              <a:rPr sz="900" b="0" i="0">
                <a:solidFill>
                  <a:srgbClr val="8B96A2"/>
                </a:solidFill>
                <a:latin typeface="Consola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5450" y="518160"/>
            <a:ext cx="977265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 spc="169">
                <a:solidFill>
                  <a:srgbClr val="515C68"/>
                </a:solidFill>
                <a:latin typeface="Segoe UI Semibold"/>
              </a:rPr>
              <a:t>THE SPINE OF THIS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5450" y="739597"/>
            <a:ext cx="9772650" cy="5076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547"/>
              </a:lnSpc>
              <a:spcBef>
                <a:spcPts val="0"/>
              </a:spcBef>
              <a:spcAft>
                <a:spcPts val="0"/>
              </a:spcAft>
            </a:pPr>
            <a:r>
              <a:rPr sz="3225" b="1" i="0">
                <a:solidFill>
                  <a:srgbClr val="121820"/>
                </a:solidFill>
                <a:latin typeface="Segoe UI"/>
              </a:rPr>
              <a:t>Who decides what happens next?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62200" y="2727008"/>
            <a:ext cx="8477250" cy="0"/>
          </a:xfrm>
          <a:prstGeom prst="line">
            <a:avLst/>
          </a:prstGeom>
          <a:ln w="10477">
            <a:solidFill>
              <a:srgbClr val="8B96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124200" y="2593658"/>
            <a:ext cx="0" cy="266700"/>
          </a:xfrm>
          <a:prstGeom prst="line">
            <a:avLst/>
          </a:prstGeom>
          <a:ln w="13334">
            <a:solidFill>
              <a:srgbClr val="0C7A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057525" y="2660332"/>
            <a:ext cx="133350" cy="133350"/>
          </a:xfrm>
          <a:prstGeom prst="ellipse">
            <a:avLst/>
          </a:prstGeom>
          <a:solidFill>
            <a:srgbClr val="0C7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6362700" y="2593658"/>
            <a:ext cx="0" cy="266700"/>
          </a:xfrm>
          <a:prstGeom prst="line">
            <a:avLst/>
          </a:prstGeom>
          <a:ln w="13334">
            <a:solidFill>
              <a:srgbClr val="A263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296025" y="2660332"/>
            <a:ext cx="133350" cy="133350"/>
          </a:xfrm>
          <a:prstGeom prst="ellipse">
            <a:avLst/>
          </a:prstGeom>
          <a:solidFill>
            <a:srgbClr val="A26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9601200" y="2593658"/>
            <a:ext cx="0" cy="266700"/>
          </a:xfrm>
          <a:prstGeom prst="line">
            <a:avLst/>
          </a:prstGeom>
          <a:ln w="13334">
            <a:solidFill>
              <a:srgbClr val="A93A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9534525" y="2660332"/>
            <a:ext cx="133350" cy="133350"/>
          </a:xfrm>
          <a:prstGeom prst="ellipse">
            <a:avLst/>
          </a:prstGeom>
          <a:solidFill>
            <a:srgbClr val="A9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4450" y="2206752"/>
            <a:ext cx="3619500" cy="266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12"/>
              </a:lnSpc>
            </a:pPr>
            <a:r>
              <a:rPr sz="1050" b="0" i="0">
                <a:solidFill>
                  <a:srgbClr val="0C7A84"/>
                </a:solidFill>
                <a:latin typeface="Segoe UI Semibold"/>
              </a:rPr>
              <a:t>Generative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2950" y="2206752"/>
            <a:ext cx="3619500" cy="266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12"/>
              </a:lnSpc>
            </a:pPr>
            <a:r>
              <a:rPr sz="1050" b="0" i="0">
                <a:solidFill>
                  <a:srgbClr val="A2631A"/>
                </a:solidFill>
                <a:latin typeface="Segoe UI Semibold"/>
              </a:rPr>
              <a:t>AI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1450" y="2206752"/>
            <a:ext cx="3619500" cy="266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12"/>
              </a:lnSpc>
            </a:pPr>
            <a:r>
              <a:rPr sz="1050" b="0" i="0">
                <a:solidFill>
                  <a:srgbClr val="A93A2C"/>
                </a:solidFill>
                <a:latin typeface="Segoe UI Semibold"/>
              </a:rPr>
              <a:t>Agentic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14450" y="3000423"/>
            <a:ext cx="3619500" cy="21907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078"/>
              </a:lnSpc>
            </a:pPr>
            <a:r>
              <a:rPr sz="862" b="0" i="0">
                <a:solidFill>
                  <a:srgbClr val="515C68"/>
                </a:solidFill>
                <a:latin typeface="Consolas"/>
              </a:rPr>
              <a:t>you write every step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2950" y="3000423"/>
            <a:ext cx="3619500" cy="21907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078"/>
              </a:lnSpc>
            </a:pPr>
            <a:r>
              <a:rPr sz="862" b="0" i="0">
                <a:solidFill>
                  <a:srgbClr val="515C68"/>
                </a:solidFill>
                <a:latin typeface="Consolas"/>
              </a:rPr>
              <a:t>you write the loop,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2950" y="3152823"/>
            <a:ext cx="3619500" cy="21907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078"/>
              </a:lnSpc>
            </a:pPr>
            <a:r>
              <a:rPr sz="862" b="0" i="0">
                <a:solidFill>
                  <a:srgbClr val="515C68"/>
                </a:solidFill>
                <a:latin typeface="Consolas"/>
              </a:rPr>
              <a:t>model picks the tool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1450" y="3000423"/>
            <a:ext cx="3619500" cy="21907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078"/>
              </a:lnSpc>
            </a:pPr>
            <a:r>
              <a:rPr sz="862" b="0" i="0">
                <a:solidFill>
                  <a:srgbClr val="515C68"/>
                </a:solidFill>
                <a:latin typeface="Consolas"/>
              </a:rPr>
              <a:t>model picks the steps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1450" y="3152823"/>
            <a:ext cx="3619500" cy="21907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078"/>
              </a:lnSpc>
            </a:pPr>
            <a:r>
              <a:rPr sz="862" b="0" i="0">
                <a:solidFill>
                  <a:srgbClr val="515C68"/>
                </a:solidFill>
                <a:latin typeface="Consolas"/>
              </a:rPr>
              <a:t>and when to stop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62200" y="1832038"/>
            <a:ext cx="36195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25"/>
              </a:lnSpc>
            </a:pPr>
            <a:r>
              <a:rPr sz="900" b="0" i="0" spc="90">
                <a:solidFill>
                  <a:srgbClr val="8B96A2"/>
                </a:solidFill>
                <a:latin typeface="Segoe UI"/>
              </a:rPr>
              <a:t>YOU HOLD 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950" y="1832038"/>
            <a:ext cx="36195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1125"/>
              </a:lnSpc>
            </a:pPr>
            <a:r>
              <a:rPr sz="900" b="0" i="0" spc="90">
                <a:solidFill>
                  <a:srgbClr val="8B96A2"/>
                </a:solidFill>
                <a:latin typeface="Segoe UI"/>
              </a:rPr>
              <a:t>MODEL HOLDS CONTROL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362200" y="2098358"/>
            <a:ext cx="0" cy="495300"/>
          </a:xfrm>
          <a:prstGeom prst="line">
            <a:avLst/>
          </a:prstGeom>
          <a:ln w="9525">
            <a:solidFill>
              <a:srgbClr val="D2D8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839450" y="2098358"/>
            <a:ext cx="0" cy="495300"/>
          </a:xfrm>
          <a:prstGeom prst="line">
            <a:avLst/>
          </a:prstGeom>
          <a:ln w="9525">
            <a:solidFill>
              <a:srgbClr val="D2D8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695450" y="3429343"/>
            <a:ext cx="7818120" cy="55435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15C68"/>
                </a:solidFill>
                <a:latin typeface="Georgia"/>
              </a:rPr>
              <a:t>One axis, not three boxes. Systems sit anywhere along it, and most real systems sit further left than</a:t>
            </a:r>
          </a:p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15C68"/>
                </a:solidFill>
                <a:latin typeface="Georgia"/>
              </a:rPr>
              <a:t>their marketing suggests.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695450" y="5505450"/>
            <a:ext cx="9772650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695450" y="5648706"/>
            <a:ext cx="977265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15C68"/>
                </a:solidFill>
                <a:latin typeface="Georgia"/>
              </a:rPr>
              <a:t>Every distinction in this session is a different answer to that one question. </a:t>
            </a:r>
            <a:r>
              <a:rPr sz="1500" b="1" i="0">
                <a:solidFill>
                  <a:srgbClr val="121820"/>
                </a:solidFill>
                <a:latin typeface="Georgia"/>
              </a:rPr>
              <a:t>Hold on to it and the rest</a:t>
            </a:r>
          </a:p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1820"/>
                </a:solidFill>
                <a:latin typeface="Georgia"/>
              </a:rPr>
              <a:t>follows.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5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50275"/>
            <a:ext cx="8572500" cy="2171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10">
                <a:solidFill>
                  <a:srgbClr val="C6D3D5"/>
                </a:solidFill>
                <a:latin typeface="Consolas"/>
              </a:rPr>
              <a:t>PART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26190"/>
            <a:ext cx="10363200" cy="873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6426"/>
              </a:lnSpc>
              <a:spcBef>
                <a:spcPts val="0"/>
              </a:spcBef>
              <a:spcAft>
                <a:spcPts val="0"/>
              </a:spcAft>
            </a:pPr>
            <a:r>
              <a:rPr sz="6300" b="1" i="0">
                <a:solidFill>
                  <a:srgbClr val="FBFAF8"/>
                </a:solidFill>
                <a:latin typeface="Segoe UI"/>
              </a:rPr>
              <a:t>Generative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39777"/>
            <a:ext cx="5915025" cy="7978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915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>
                <a:solidFill>
                  <a:srgbClr val="C6D3D5"/>
                </a:solidFill>
                <a:latin typeface="Georgia"/>
              </a:rPr>
              <a:t>A model that produces content. Powerful, and</a:t>
            </a:r>
          </a:p>
          <a:p>
            <a:pPr>
              <a:lnSpc>
                <a:spcPts val="2915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>
                <a:solidFill>
                  <a:srgbClr val="C6D3D5"/>
                </a:solidFill>
                <a:latin typeface="Georgia"/>
              </a:rPr>
              <a:t>more limited than it looks.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200150" y="552450"/>
            <a:ext cx="0" cy="571500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709612" y="595312"/>
            <a:ext cx="104775" cy="104775"/>
          </a:xfrm>
          <a:prstGeom prst="ellipse">
            <a:avLst/>
          </a:prstGeom>
          <a:solidFill>
            <a:srgbClr val="0C7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0550" y="952500"/>
            <a:ext cx="342900" cy="4914900"/>
          </a:xfrm>
          <a:prstGeom prst="rect">
            <a:avLst/>
          </a:prstGeom>
          <a:noFill/>
        </p:spPr>
        <p:txBody>
          <a:bodyPr wrap="none" lIns="0" rIns="0" tIns="0" bIns="0" anchor="ctr" vert="vert270">
            <a:noAutofit/>
          </a:bodyPr>
          <a:lstStyle/>
          <a:p>
            <a:pPr algn="ctr"/>
            <a:r>
              <a:rPr sz="825" spc="157">
                <a:solidFill>
                  <a:srgbClr val="8B96A2"/>
                </a:solidFill>
                <a:latin typeface="Segoe UI Semibold"/>
              </a:rPr>
              <a:t>GENERATIVE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6077331"/>
            <a:ext cx="5715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125"/>
              </a:lnSpc>
            </a:pPr>
            <a:r>
              <a:rPr sz="900" b="0" i="0">
                <a:solidFill>
                  <a:srgbClr val="8B96A2"/>
                </a:solidFill>
                <a:latin typeface="Consola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5450" y="518160"/>
            <a:ext cx="977265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 spc="169">
                <a:solidFill>
                  <a:srgbClr val="0C7A84"/>
                </a:solidFill>
                <a:latin typeface="Segoe UI Semibold"/>
              </a:rPr>
              <a:t>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5450" y="739597"/>
            <a:ext cx="9772650" cy="5076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547"/>
              </a:lnSpc>
              <a:spcBef>
                <a:spcPts val="0"/>
              </a:spcBef>
              <a:spcAft>
                <a:spcPts val="0"/>
              </a:spcAft>
            </a:pPr>
            <a:r>
              <a:rPr sz="3225" b="1" i="0">
                <a:solidFill>
                  <a:srgbClr val="121820"/>
                </a:solidFill>
                <a:latin typeface="Segoe UI"/>
              </a:rPr>
              <a:t>It produces content instead of labelling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5450" y="1443464"/>
            <a:ext cx="8013573" cy="10995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21820"/>
                </a:solidFill>
                <a:latin typeface="Georgia"/>
              </a:rPr>
              <a:t>"Generative" is a contrast with </a:t>
            </a:r>
            <a:r>
              <a:rPr sz="1800" b="1" i="0">
                <a:solidFill>
                  <a:srgbClr val="121820"/>
                </a:solidFill>
                <a:latin typeface="Georgia"/>
              </a:rPr>
              <a:t>discriminative</a:t>
            </a:r>
            <a:r>
              <a:rPr sz="1800" b="0" i="0">
                <a:solidFill>
                  <a:srgbClr val="121820"/>
                </a:solidFill>
                <a:latin typeface="Georgia"/>
              </a:rPr>
              <a:t>. A spam filter tells you which</a:t>
            </a:r>
          </a:p>
          <a:p>
            <a:pPr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21820"/>
                </a:solidFill>
                <a:latin typeface="Georgia"/>
              </a:rPr>
              <a:t>bucket an email belongs in — it picks from options you defined. A generative</a:t>
            </a:r>
          </a:p>
          <a:p>
            <a:pPr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21820"/>
                </a:solidFill>
                <a:latin typeface="Georgia"/>
              </a:rPr>
              <a:t>model writes the email.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95450" y="2721674"/>
            <a:ext cx="28575" cy="742950"/>
          </a:xfrm>
          <a:prstGeom prst="rect">
            <a:avLst/>
          </a:prstGeom>
          <a:solidFill>
            <a:srgbClr val="0C7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4050" y="2679764"/>
            <a:ext cx="6059043" cy="723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>
                <a:solidFill>
                  <a:srgbClr val="121820"/>
                </a:solidFill>
                <a:latin typeface="Georgia"/>
              </a:rPr>
              <a:t>The output space isn't a list of categories. It's every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>
                <a:solidFill>
                  <a:srgbClr val="121820"/>
                </a:solidFill>
                <a:latin typeface="Georgia"/>
              </a:rPr>
              <a:t>sequence of words the model could produce.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695450" y="5505450"/>
            <a:ext cx="9772650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695450" y="5648706"/>
            <a:ext cx="977265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15C68"/>
                </a:solidFill>
                <a:latin typeface="Georgia"/>
              </a:rPr>
              <a:t>Same idea across media: text, code, images, audio, video. This session stays with </a:t>
            </a:r>
            <a:r>
              <a:rPr sz="1500" b="1" i="0">
                <a:solidFill>
                  <a:srgbClr val="121820"/>
                </a:solidFill>
                <a:latin typeface="Georgia"/>
              </a:rPr>
              <a:t>language models</a:t>
            </a:r>
            <a:r>
              <a:rPr sz="1500" b="0" i="0">
                <a:solidFill>
                  <a:srgbClr val="515C68"/>
                </a:solidFill>
                <a:latin typeface="Georgia"/>
              </a:rPr>
              <a:t>, because</a:t>
            </a:r>
          </a:p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15C68"/>
                </a:solidFill>
                <a:latin typeface="Georgia"/>
              </a:rPr>
              <a:t>that is where agents are built.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200150" y="552450"/>
            <a:ext cx="0" cy="571500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709612" y="595312"/>
            <a:ext cx="104775" cy="104775"/>
          </a:xfrm>
          <a:prstGeom prst="ellipse">
            <a:avLst/>
          </a:prstGeom>
          <a:solidFill>
            <a:srgbClr val="0C7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0550" y="952500"/>
            <a:ext cx="342900" cy="4914900"/>
          </a:xfrm>
          <a:prstGeom prst="rect">
            <a:avLst/>
          </a:prstGeom>
          <a:noFill/>
        </p:spPr>
        <p:txBody>
          <a:bodyPr wrap="none" lIns="0" rIns="0" tIns="0" bIns="0" anchor="ctr" vert="vert270">
            <a:noAutofit/>
          </a:bodyPr>
          <a:lstStyle/>
          <a:p>
            <a:pPr algn="ctr"/>
            <a:r>
              <a:rPr sz="825" spc="157">
                <a:solidFill>
                  <a:srgbClr val="8B96A2"/>
                </a:solidFill>
                <a:latin typeface="Segoe UI Semibold"/>
              </a:rPr>
              <a:t>GENERATIVE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6077331"/>
            <a:ext cx="5715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125"/>
              </a:lnSpc>
            </a:pPr>
            <a:r>
              <a:rPr sz="900" b="0" i="0">
                <a:solidFill>
                  <a:srgbClr val="8B96A2"/>
                </a:solidFill>
                <a:latin typeface="Consolas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5450" y="518160"/>
            <a:ext cx="977265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 spc="169">
                <a:solidFill>
                  <a:srgbClr val="0C7A84"/>
                </a:solidFill>
                <a:latin typeface="Segoe UI Semibold"/>
              </a:rPr>
              <a:t>MECHANISM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5450" y="739597"/>
            <a:ext cx="9772650" cy="5076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547"/>
              </a:lnSpc>
              <a:spcBef>
                <a:spcPts val="0"/>
              </a:spcBef>
              <a:spcAft>
                <a:spcPts val="0"/>
              </a:spcAft>
            </a:pPr>
            <a:r>
              <a:rPr sz="3225" b="1" i="0">
                <a:solidFill>
                  <a:srgbClr val="121820"/>
                </a:solidFill>
                <a:latin typeface="Segoe UI"/>
              </a:rPr>
              <a:t>One trick, repeated: predict the next token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5950" y="1736788"/>
            <a:ext cx="36195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25"/>
              </a:lnSpc>
            </a:pPr>
            <a:r>
              <a:rPr sz="900" b="0" i="0" spc="90">
                <a:solidFill>
                  <a:srgbClr val="8B96A2"/>
                </a:solidFill>
                <a:latin typeface="Segoe UI"/>
              </a:rPr>
              <a:t>INPUT SO FAR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85950" y="2060258"/>
            <a:ext cx="590550" cy="323850"/>
          </a:xfrm>
          <a:prstGeom prst="rect">
            <a:avLst/>
          </a:prstGeom>
          <a:noFill/>
          <a:ln w="10477">
            <a:solidFill>
              <a:srgbClr val="D2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85950" y="2060258"/>
            <a:ext cx="590550" cy="323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078"/>
              </a:lnSpc>
            </a:pPr>
            <a:r>
              <a:rPr sz="862" b="0" i="0">
                <a:solidFill>
                  <a:srgbClr val="515C68"/>
                </a:solidFill>
                <a:latin typeface="Consolas"/>
              </a:rPr>
              <a:t>The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33650" y="2060258"/>
            <a:ext cx="781050" cy="323850"/>
          </a:xfrm>
          <a:prstGeom prst="rect">
            <a:avLst/>
          </a:prstGeom>
          <a:noFill/>
          <a:ln w="10477">
            <a:solidFill>
              <a:srgbClr val="D2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33650" y="2060258"/>
            <a:ext cx="781050" cy="323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078"/>
              </a:lnSpc>
            </a:pPr>
            <a:r>
              <a:rPr sz="862" b="0" i="0">
                <a:solidFill>
                  <a:srgbClr val="515C68"/>
                </a:solidFill>
                <a:latin typeface="Consolas"/>
              </a:rPr>
              <a:t>capital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71850" y="2060258"/>
            <a:ext cx="438150" cy="323850"/>
          </a:xfrm>
          <a:prstGeom prst="rect">
            <a:avLst/>
          </a:prstGeom>
          <a:noFill/>
          <a:ln w="10477">
            <a:solidFill>
              <a:srgbClr val="D2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71850" y="2060258"/>
            <a:ext cx="438150" cy="323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078"/>
              </a:lnSpc>
            </a:pPr>
            <a:r>
              <a:rPr sz="862" b="0" i="0">
                <a:solidFill>
                  <a:srgbClr val="515C68"/>
                </a:solidFill>
                <a:latin typeface="Consolas"/>
              </a:rPr>
              <a:t>of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67150" y="2060258"/>
            <a:ext cx="704850" cy="323850"/>
          </a:xfrm>
          <a:prstGeom prst="rect">
            <a:avLst/>
          </a:prstGeom>
          <a:noFill/>
          <a:ln w="10477">
            <a:solidFill>
              <a:srgbClr val="D2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67150" y="2060258"/>
            <a:ext cx="704850" cy="323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078"/>
              </a:lnSpc>
            </a:pPr>
            <a:r>
              <a:rPr sz="862" b="0" i="0">
                <a:solidFill>
                  <a:srgbClr val="515C68"/>
                </a:solidFill>
                <a:latin typeface="Consolas"/>
              </a:rPr>
              <a:t>France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29150" y="2060258"/>
            <a:ext cx="400050" cy="323850"/>
          </a:xfrm>
          <a:prstGeom prst="rect">
            <a:avLst/>
          </a:prstGeom>
          <a:noFill/>
          <a:ln w="10477">
            <a:solidFill>
              <a:srgbClr val="D2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29150" y="2060258"/>
            <a:ext cx="400050" cy="323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078"/>
              </a:lnSpc>
            </a:pPr>
            <a:r>
              <a:rPr sz="862" b="0" i="0">
                <a:solidFill>
                  <a:srgbClr val="515C68"/>
                </a:solidFill>
                <a:latin typeface="Consolas"/>
              </a:rPr>
              <a:t>is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124450" y="2222182"/>
            <a:ext cx="533400" cy="0"/>
          </a:xfrm>
          <a:prstGeom prst="line">
            <a:avLst/>
          </a:prstGeom>
          <a:ln w="10477">
            <a:solidFill>
              <a:srgbClr val="8B96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734050" y="1965008"/>
            <a:ext cx="1123950" cy="514350"/>
          </a:xfrm>
          <a:prstGeom prst="rect">
            <a:avLst/>
          </a:prstGeom>
          <a:solidFill>
            <a:srgbClr val="F5F7F9"/>
          </a:solidFill>
          <a:ln w="11429">
            <a:solidFill>
              <a:srgbClr val="8B96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34050" y="1965008"/>
            <a:ext cx="1123950" cy="5143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12"/>
              </a:lnSpc>
            </a:pPr>
            <a:r>
              <a:rPr sz="1050" b="0" i="0">
                <a:solidFill>
                  <a:srgbClr val="121820"/>
                </a:solidFill>
                <a:latin typeface="Segoe UI Semibold"/>
              </a:rPr>
              <a:t>Model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915150" y="2222182"/>
            <a:ext cx="533400" cy="0"/>
          </a:xfrm>
          <a:prstGeom prst="line">
            <a:avLst/>
          </a:prstGeom>
          <a:ln w="10477">
            <a:solidFill>
              <a:srgbClr val="8B96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543800" y="1736788"/>
            <a:ext cx="36195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25"/>
              </a:lnSpc>
            </a:pPr>
            <a:r>
              <a:rPr sz="900" b="0" i="0" spc="90">
                <a:solidFill>
                  <a:srgbClr val="8B96A2"/>
                </a:solidFill>
                <a:latin typeface="Segoe UI"/>
              </a:rPr>
              <a:t>PROBABILITY OF EACH NEXT TOKEN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43800" y="2041208"/>
            <a:ext cx="2400300" cy="161925"/>
          </a:xfrm>
          <a:prstGeom prst="rect">
            <a:avLst/>
          </a:prstGeom>
          <a:solidFill>
            <a:srgbClr val="0C7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43800" y="2250758"/>
            <a:ext cx="171450" cy="161925"/>
          </a:xfrm>
          <a:prstGeom prst="rect">
            <a:avLst/>
          </a:prstGeom>
          <a:solidFill>
            <a:srgbClr val="D2D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543800" y="2460308"/>
            <a:ext cx="85725" cy="161925"/>
          </a:xfrm>
          <a:prstGeom prst="rect">
            <a:avLst/>
          </a:prstGeom>
          <a:solidFill>
            <a:srgbClr val="D2D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0" y="2019348"/>
            <a:ext cx="3619500" cy="21907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78"/>
              </a:lnSpc>
            </a:pPr>
            <a:r>
              <a:rPr sz="862" b="0" i="0">
                <a:solidFill>
                  <a:srgbClr val="515C68"/>
                </a:solidFill>
                <a:latin typeface="Consolas"/>
              </a:rPr>
              <a:t>" Paris"   0.91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2228898"/>
            <a:ext cx="3619500" cy="21907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78"/>
              </a:lnSpc>
            </a:pPr>
            <a:r>
              <a:rPr sz="862" b="0" i="0">
                <a:solidFill>
                  <a:srgbClr val="515C68"/>
                </a:solidFill>
                <a:latin typeface="Consolas"/>
              </a:rPr>
              <a:t>" located"   0.04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2438448"/>
            <a:ext cx="3619500" cy="21907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78"/>
              </a:lnSpc>
            </a:pPr>
            <a:r>
              <a:rPr sz="862" b="0" i="0">
                <a:solidFill>
                  <a:srgbClr val="515C68"/>
                </a:solidFill>
                <a:latin typeface="Consolas"/>
              </a:rPr>
              <a:t>" the"   0.02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743950" y="2727008"/>
            <a:ext cx="0" cy="381000"/>
          </a:xfrm>
          <a:prstGeom prst="line">
            <a:avLst/>
          </a:prstGeom>
          <a:ln w="10477">
            <a:solidFill>
              <a:srgbClr val="8B96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858250" y="2828973"/>
            <a:ext cx="3619500" cy="21907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78"/>
              </a:lnSpc>
            </a:pPr>
            <a:r>
              <a:rPr sz="862" b="0" i="0">
                <a:solidFill>
                  <a:srgbClr val="515C68"/>
                </a:solidFill>
                <a:latin typeface="Consolas"/>
              </a:rPr>
              <a:t>sample one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05800" y="3184208"/>
            <a:ext cx="876300" cy="323850"/>
          </a:xfrm>
          <a:prstGeom prst="rect">
            <a:avLst/>
          </a:prstGeom>
          <a:solidFill>
            <a:srgbClr val="F5F7F9"/>
          </a:solidFill>
          <a:ln w="12382">
            <a:solidFill>
              <a:srgbClr val="0C7A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05800" y="3184208"/>
            <a:ext cx="876300" cy="323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218"/>
              </a:lnSpc>
            </a:pPr>
            <a:r>
              <a:rPr sz="975" b="0" i="0">
                <a:solidFill>
                  <a:srgbClr val="0C7A84"/>
                </a:solidFill>
                <a:latin typeface="Segoe UI Semibold"/>
              </a:rPr>
              <a:t>" Paris"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3409950" y="3346132"/>
            <a:ext cx="4895850" cy="0"/>
          </a:xfrm>
          <a:prstGeom prst="line">
            <a:avLst/>
          </a:prstGeom>
          <a:ln w="11429">
            <a:solidFill>
              <a:srgbClr val="0C7A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409950" y="2441258"/>
            <a:ext cx="0" cy="904874"/>
          </a:xfrm>
          <a:prstGeom prst="line">
            <a:avLst/>
          </a:prstGeom>
          <a:ln w="11429">
            <a:solidFill>
              <a:srgbClr val="0C7A8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076700" y="3095673"/>
            <a:ext cx="3619500" cy="21907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078"/>
              </a:lnSpc>
            </a:pPr>
            <a:r>
              <a:rPr sz="862" b="0" i="0">
                <a:solidFill>
                  <a:srgbClr val="0C7A84"/>
                </a:solidFill>
                <a:latin typeface="Consolas"/>
              </a:rPr>
              <a:t>append to the input, run it again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85950" y="3775138"/>
            <a:ext cx="36195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25"/>
              </a:lnSpc>
            </a:pPr>
            <a:r>
              <a:rPr sz="900" b="0" i="0" spc="90">
                <a:solidFill>
                  <a:srgbClr val="8B96A2"/>
                </a:solidFill>
                <a:latin typeface="Segoe UI"/>
              </a:rPr>
              <a:t>REPEAT UNTIL THE MODEL EMITS A STOP TOKEN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95450" y="4057993"/>
            <a:ext cx="8013573" cy="55435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15C68"/>
                </a:solidFill>
                <a:latin typeface="Georgia"/>
              </a:rPr>
              <a:t>Every capability — reasoning, code, translation — is this loop running over a model good enough that the</a:t>
            </a:r>
          </a:p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15C68"/>
                </a:solidFill>
                <a:latin typeface="Georgia"/>
              </a:rPr>
              <a:t>loop produces something useful.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200150" y="552450"/>
            <a:ext cx="0" cy="571500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709612" y="595312"/>
            <a:ext cx="104775" cy="104775"/>
          </a:xfrm>
          <a:prstGeom prst="ellipse">
            <a:avLst/>
          </a:prstGeom>
          <a:solidFill>
            <a:srgbClr val="0C7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0550" y="952500"/>
            <a:ext cx="342900" cy="4914900"/>
          </a:xfrm>
          <a:prstGeom prst="rect">
            <a:avLst/>
          </a:prstGeom>
          <a:noFill/>
        </p:spPr>
        <p:txBody>
          <a:bodyPr wrap="none" lIns="0" rIns="0" tIns="0" bIns="0" anchor="ctr" vert="vert270">
            <a:noAutofit/>
          </a:bodyPr>
          <a:lstStyle/>
          <a:p>
            <a:pPr algn="ctr"/>
            <a:r>
              <a:rPr sz="825" spc="157">
                <a:solidFill>
                  <a:srgbClr val="8B96A2"/>
                </a:solidFill>
                <a:latin typeface="Segoe UI Semibold"/>
              </a:rPr>
              <a:t>GENERATIVE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6077331"/>
            <a:ext cx="5715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125"/>
              </a:lnSpc>
            </a:pPr>
            <a:r>
              <a:rPr sz="900" b="0" i="0">
                <a:solidFill>
                  <a:srgbClr val="8B96A2"/>
                </a:solidFill>
                <a:latin typeface="Consolas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5450" y="518160"/>
            <a:ext cx="977265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 spc="169">
                <a:solidFill>
                  <a:srgbClr val="0C7A84"/>
                </a:solidFill>
                <a:latin typeface="Segoe UI Semibold"/>
              </a:rPr>
              <a:t>WHAT FOLLOWS FROM THAT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5450" y="739597"/>
            <a:ext cx="9772650" cy="5076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547"/>
              </a:lnSpc>
              <a:spcBef>
                <a:spcPts val="0"/>
              </a:spcBef>
              <a:spcAft>
                <a:spcPts val="0"/>
              </a:spcAft>
            </a:pPr>
            <a:r>
              <a:rPr sz="3225" b="1" i="0">
                <a:solidFill>
                  <a:srgbClr val="121820"/>
                </a:solidFill>
                <a:latin typeface="Segoe UI"/>
              </a:rPr>
              <a:t>Three limits, and they are structural</a:t>
            </a:r>
          </a:p>
        </p:txBody>
      </p:sp>
      <p:sp>
        <p:nvSpPr>
          <p:cNvPr id="9" name="Rectangle 8"/>
          <p:cNvSpPr/>
          <p:nvPr/>
        </p:nvSpPr>
        <p:spPr>
          <a:xfrm>
            <a:off x="1695450" y="1526858"/>
            <a:ext cx="323850" cy="19050"/>
          </a:xfrm>
          <a:prstGeom prst="rect">
            <a:avLst/>
          </a:prstGeom>
          <a:solidFill>
            <a:srgbClr val="0C7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95450" y="1552385"/>
            <a:ext cx="323850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0C7A84"/>
                </a:solidFill>
                <a:latin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71700" y="1472565"/>
            <a:ext cx="9296400" cy="2833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>
                <a:solidFill>
                  <a:srgbClr val="121820"/>
                </a:solidFill>
                <a:latin typeface="Segoe UI"/>
              </a:rPr>
              <a:t>No 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71700" y="1716729"/>
            <a:ext cx="5524500" cy="8686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15C68"/>
                </a:solidFill>
                <a:latin typeface="Georgia"/>
              </a:rPr>
              <a:t>Every API call is independent. A "conversation" is you</a:t>
            </a:r>
          </a:p>
          <a:p>
            <a:pPr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15C68"/>
                </a:solidFill>
                <a:latin typeface="Georgia"/>
              </a:rPr>
              <a:t>re-sending the entire history on each turn. The model</a:t>
            </a:r>
          </a:p>
          <a:p>
            <a:pPr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15C68"/>
                </a:solidFill>
                <a:latin typeface="Georgia"/>
              </a:rPr>
              <a:t>remembers nothing on its own.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95450" y="2736056"/>
            <a:ext cx="323850" cy="19050"/>
          </a:xfrm>
          <a:prstGeom prst="rect">
            <a:avLst/>
          </a:prstGeom>
          <a:solidFill>
            <a:srgbClr val="0C7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95450" y="2761583"/>
            <a:ext cx="323850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0C7A84"/>
                </a:solidFill>
                <a:latin typeface="Consola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71700" y="2681764"/>
            <a:ext cx="9296400" cy="2833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>
                <a:solidFill>
                  <a:srgbClr val="121820"/>
                </a:solidFill>
                <a:latin typeface="Segoe UI"/>
              </a:rPr>
              <a:t>No 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71700" y="2925928"/>
            <a:ext cx="5524500" cy="5981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15C68"/>
                </a:solidFill>
                <a:latin typeface="Georgia"/>
              </a:rPr>
              <a:t>It emits text. It cannot read your database, call your API, or</a:t>
            </a:r>
          </a:p>
          <a:p>
            <a:pPr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15C68"/>
                </a:solidFill>
                <a:latin typeface="Georgia"/>
              </a:rPr>
              <a:t>send an email. There is no mechanism by which it could.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95450" y="3674745"/>
            <a:ext cx="323850" cy="19050"/>
          </a:xfrm>
          <a:prstGeom prst="rect">
            <a:avLst/>
          </a:prstGeom>
          <a:solidFill>
            <a:srgbClr val="0C7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95450" y="3700272"/>
            <a:ext cx="323850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0C7A84"/>
                </a:solidFill>
                <a:latin typeface="Consola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71700" y="3620452"/>
            <a:ext cx="9296400" cy="2833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>
                <a:solidFill>
                  <a:srgbClr val="121820"/>
                </a:solidFill>
                <a:latin typeface="Segoe UI"/>
              </a:rPr>
              <a:t>No goals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71700" y="3864616"/>
            <a:ext cx="5524500" cy="5981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15C68"/>
                </a:solidFill>
                <a:latin typeface="Georgia"/>
              </a:rPr>
              <a:t>Nothing persists between calls, so there is nowhere for a goal to</a:t>
            </a:r>
          </a:p>
          <a:p>
            <a:pPr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15C68"/>
                </a:solidFill>
                <a:latin typeface="Georgia"/>
              </a:rPr>
              <a:t>live. What looks like intent is a pattern in the text it was given.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695450" y="5505450"/>
            <a:ext cx="9772650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695450" y="5648706"/>
            <a:ext cx="977265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15C68"/>
                </a:solidFill>
                <a:latin typeface="Georgia"/>
              </a:rPr>
              <a:t>Everything in the next two parts of this session exists to work around one of these three. </a:t>
            </a:r>
            <a:r>
              <a:rPr sz="1500" b="1" i="0">
                <a:solidFill>
                  <a:srgbClr val="121820"/>
                </a:solidFill>
                <a:latin typeface="Georgia"/>
              </a:rPr>
              <a:t>That is the whole</a:t>
            </a:r>
          </a:p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1820"/>
                </a:solidFill>
                <a:latin typeface="Georgia"/>
              </a:rPr>
              <a:t>plot.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200150" y="552450"/>
            <a:ext cx="0" cy="571500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709612" y="595312"/>
            <a:ext cx="104775" cy="104775"/>
          </a:xfrm>
          <a:prstGeom prst="ellipse">
            <a:avLst/>
          </a:prstGeom>
          <a:solidFill>
            <a:srgbClr val="0C7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0550" y="952500"/>
            <a:ext cx="342900" cy="4914900"/>
          </a:xfrm>
          <a:prstGeom prst="rect">
            <a:avLst/>
          </a:prstGeom>
          <a:noFill/>
        </p:spPr>
        <p:txBody>
          <a:bodyPr wrap="none" lIns="0" rIns="0" tIns="0" bIns="0" anchor="ctr" vert="vert270">
            <a:noAutofit/>
          </a:bodyPr>
          <a:lstStyle/>
          <a:p>
            <a:pPr algn="ctr"/>
            <a:r>
              <a:rPr sz="825" spc="157">
                <a:solidFill>
                  <a:srgbClr val="8B96A2"/>
                </a:solidFill>
                <a:latin typeface="Segoe UI Semibold"/>
              </a:rPr>
              <a:t>GENERATIVE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6077331"/>
            <a:ext cx="5715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125"/>
              </a:lnSpc>
            </a:pPr>
            <a:r>
              <a:rPr sz="900" b="0" i="0">
                <a:solidFill>
                  <a:srgbClr val="8B96A2"/>
                </a:solidFill>
                <a:latin typeface="Consolas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5450" y="518160"/>
            <a:ext cx="977265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 spc="169">
                <a:solidFill>
                  <a:srgbClr val="0C7A84"/>
                </a:solidFill>
                <a:latin typeface="Segoe UI Semibold"/>
              </a:rPr>
              <a:t>CALIBRATION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5450" y="739597"/>
            <a:ext cx="9772650" cy="5076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547"/>
              </a:lnSpc>
              <a:spcBef>
                <a:spcPts val="0"/>
              </a:spcBef>
              <a:spcAft>
                <a:spcPts val="0"/>
              </a:spcAft>
            </a:pPr>
            <a:r>
              <a:rPr sz="3225" b="1" i="0">
                <a:solidFill>
                  <a:srgbClr val="121820"/>
                </a:solidFill>
                <a:latin typeface="Segoe UI"/>
              </a:rPr>
              <a:t>Where it earns its keep, and where it doesn't</a:t>
            </a:r>
          </a:p>
        </p:txBody>
      </p:sp>
      <p:sp>
        <p:nvSpPr>
          <p:cNvPr id="9" name="Rectangle 8"/>
          <p:cNvSpPr/>
          <p:nvPr/>
        </p:nvSpPr>
        <p:spPr>
          <a:xfrm>
            <a:off x="1695450" y="1526858"/>
            <a:ext cx="4724400" cy="2485072"/>
          </a:xfrm>
          <a:prstGeom prst="rect">
            <a:avLst/>
          </a:prstGeom>
          <a:solidFill>
            <a:srgbClr val="F5F7F9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95450" y="1526858"/>
            <a:ext cx="4724400" cy="28575"/>
          </a:xfrm>
          <a:prstGeom prst="rect">
            <a:avLst/>
          </a:prstGeom>
          <a:solidFill>
            <a:srgbClr val="0C7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05000" y="1663065"/>
            <a:ext cx="4305300" cy="2833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>
                <a:solidFill>
                  <a:srgbClr val="0C7A84"/>
                </a:solidFill>
                <a:latin typeface="Segoe UI"/>
              </a:rPr>
              <a:t>Reliable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05000" y="2050923"/>
            <a:ext cx="76200" cy="19050"/>
          </a:xfrm>
          <a:prstGeom prst="rect">
            <a:avLst/>
          </a:prstGeom>
          <a:solidFill>
            <a:srgbClr val="0C7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14550" y="1884281"/>
            <a:ext cx="4095750" cy="31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121820"/>
                </a:solidFill>
                <a:latin typeface="Georgia"/>
              </a:rPr>
              <a:t>Transforming text you supply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05000" y="2450782"/>
            <a:ext cx="76200" cy="19050"/>
          </a:xfrm>
          <a:prstGeom prst="rect">
            <a:avLst/>
          </a:prstGeom>
          <a:solidFill>
            <a:srgbClr val="0C7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14550" y="2284141"/>
            <a:ext cx="4095750" cy="31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121820"/>
                </a:solidFill>
                <a:latin typeface="Georgia"/>
              </a:rPr>
              <a:t>Drafting, rewriting, summarising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05000" y="2850642"/>
            <a:ext cx="76200" cy="19050"/>
          </a:xfrm>
          <a:prstGeom prst="rect">
            <a:avLst/>
          </a:prstGeom>
          <a:solidFill>
            <a:srgbClr val="0C7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14550" y="2684000"/>
            <a:ext cx="4095750" cy="31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121820"/>
                </a:solidFill>
                <a:latin typeface="Georgia"/>
              </a:rPr>
              <a:t>Pulling structure out of prose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05000" y="3250502"/>
            <a:ext cx="76200" cy="19050"/>
          </a:xfrm>
          <a:prstGeom prst="rect">
            <a:avLst/>
          </a:prstGeom>
          <a:solidFill>
            <a:srgbClr val="0C7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14550" y="3083860"/>
            <a:ext cx="4095750" cy="31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121820"/>
                </a:solidFill>
                <a:latin typeface="Georgia"/>
              </a:rPr>
              <a:t>Writing and explaining code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05000" y="3650361"/>
            <a:ext cx="76200" cy="19050"/>
          </a:xfrm>
          <a:prstGeom prst="rect">
            <a:avLst/>
          </a:prstGeom>
          <a:solidFill>
            <a:srgbClr val="0C7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14550" y="3483719"/>
            <a:ext cx="4095750" cy="31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121820"/>
                </a:solidFill>
                <a:latin typeface="Georgia"/>
              </a:rPr>
              <a:t>Classifying with a clear rubric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43700" y="1526858"/>
            <a:ext cx="4724400" cy="2485072"/>
          </a:xfrm>
          <a:prstGeom prst="rect">
            <a:avLst/>
          </a:prstGeom>
          <a:solidFill>
            <a:srgbClr val="F5F7F9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43700" y="1526858"/>
            <a:ext cx="4724400" cy="28575"/>
          </a:xfrm>
          <a:prstGeom prst="rect">
            <a:avLst/>
          </a:prstGeom>
          <a:solidFill>
            <a:srgbClr val="D2D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53250" y="1663065"/>
            <a:ext cx="4305300" cy="2833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>
                <a:solidFill>
                  <a:srgbClr val="121820"/>
                </a:solidFill>
                <a:latin typeface="Segoe UI"/>
              </a:rPr>
              <a:t>Unreliable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53250" y="2050923"/>
            <a:ext cx="76200" cy="19050"/>
          </a:xfrm>
          <a:prstGeom prst="rect">
            <a:avLst/>
          </a:prstGeom>
          <a:solidFill>
            <a:srgbClr val="8B96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62800" y="1884281"/>
            <a:ext cx="4095750" cy="31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121820"/>
                </a:solidFill>
                <a:latin typeface="Georgia"/>
              </a:rPr>
              <a:t>Facts outside its training data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53250" y="2450782"/>
            <a:ext cx="76200" cy="19050"/>
          </a:xfrm>
          <a:prstGeom prst="rect">
            <a:avLst/>
          </a:prstGeom>
          <a:solidFill>
            <a:srgbClr val="8B96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62800" y="2284141"/>
            <a:ext cx="4095750" cy="31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121820"/>
                </a:solidFill>
                <a:latin typeface="Georgia"/>
              </a:rPr>
              <a:t>Anything that happened recently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53250" y="2850642"/>
            <a:ext cx="76200" cy="19050"/>
          </a:xfrm>
          <a:prstGeom prst="rect">
            <a:avLst/>
          </a:prstGeom>
          <a:solidFill>
            <a:srgbClr val="8B96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62800" y="2684000"/>
            <a:ext cx="4095750" cy="31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121820"/>
                </a:solidFill>
                <a:latin typeface="Georgia"/>
              </a:rPr>
              <a:t>Long arithmetic, exact counting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53250" y="3250502"/>
            <a:ext cx="76200" cy="19050"/>
          </a:xfrm>
          <a:prstGeom prst="rect">
            <a:avLst/>
          </a:prstGeom>
          <a:solidFill>
            <a:srgbClr val="8B96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62800" y="3083860"/>
            <a:ext cx="4095750" cy="31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121820"/>
                </a:solidFill>
                <a:latin typeface="Georgia"/>
              </a:rPr>
              <a:t>Being a system of record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53250" y="3650361"/>
            <a:ext cx="76200" cy="19050"/>
          </a:xfrm>
          <a:prstGeom prst="rect">
            <a:avLst/>
          </a:prstGeom>
          <a:solidFill>
            <a:srgbClr val="8B96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62800" y="3483719"/>
            <a:ext cx="4095750" cy="31413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121820"/>
                </a:solidFill>
                <a:latin typeface="Georgia"/>
              </a:rPr>
              <a:t>Knowing what it doesn't know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695450" y="5505450"/>
            <a:ext cx="9772650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695450" y="5648706"/>
            <a:ext cx="977265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15C68"/>
                </a:solidFill>
                <a:latin typeface="Georgia"/>
              </a:rPr>
              <a:t>The pattern: it is strong on </a:t>
            </a:r>
            <a:r>
              <a:rPr sz="1500" b="1" i="0">
                <a:solidFill>
                  <a:srgbClr val="121820"/>
                </a:solidFill>
                <a:latin typeface="Georgia"/>
              </a:rPr>
              <a:t>text you put in front of it</a:t>
            </a:r>
            <a:r>
              <a:rPr sz="1500" b="0" i="0">
                <a:solidFill>
                  <a:srgbClr val="515C68"/>
                </a:solidFill>
                <a:latin typeface="Georgia"/>
              </a:rPr>
              <a:t>, weak on </a:t>
            </a:r>
            <a:r>
              <a:rPr sz="1500" b="1" i="0">
                <a:solidFill>
                  <a:srgbClr val="121820"/>
                </a:solidFill>
                <a:latin typeface="Georgia"/>
              </a:rPr>
              <a:t>facts it has to supply itself</a:t>
            </a:r>
            <a:r>
              <a:rPr sz="1500" b="0" i="0">
                <a:solidFill>
                  <a:srgbClr val="515C68"/>
                </a:solidFill>
                <a:latin typeface="Georgia"/>
              </a:rPr>
              <a:t>. Retrieval and</a:t>
            </a:r>
          </a:p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15C68"/>
                </a:solidFill>
                <a:latin typeface="Georgia"/>
              </a:rPr>
              <a:t>tools exist to move work from the right column to the left.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200150" y="552450"/>
            <a:ext cx="0" cy="571500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709612" y="595312"/>
            <a:ext cx="104775" cy="104775"/>
          </a:xfrm>
          <a:prstGeom prst="ellipse">
            <a:avLst/>
          </a:prstGeom>
          <a:solidFill>
            <a:srgbClr val="0C7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0550" y="952500"/>
            <a:ext cx="342900" cy="4914900"/>
          </a:xfrm>
          <a:prstGeom prst="rect">
            <a:avLst/>
          </a:prstGeom>
          <a:noFill/>
        </p:spPr>
        <p:txBody>
          <a:bodyPr wrap="none" lIns="0" rIns="0" tIns="0" bIns="0" anchor="ctr" vert="vert270">
            <a:noAutofit/>
          </a:bodyPr>
          <a:lstStyle/>
          <a:p>
            <a:pPr algn="ctr"/>
            <a:r>
              <a:rPr sz="825" spc="157">
                <a:solidFill>
                  <a:srgbClr val="8B96A2"/>
                </a:solidFill>
                <a:latin typeface="Segoe UI Semibold"/>
              </a:rPr>
              <a:t>GENERATIVE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6077331"/>
            <a:ext cx="5715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125"/>
              </a:lnSpc>
            </a:pPr>
            <a:r>
              <a:rPr sz="900" b="0" i="0">
                <a:solidFill>
                  <a:srgbClr val="8B96A2"/>
                </a:solidFill>
                <a:latin typeface="Consolas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5450" y="518160"/>
            <a:ext cx="977265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 spc="169">
                <a:solidFill>
                  <a:srgbClr val="0C7A84"/>
                </a:solidFill>
                <a:latin typeface="Segoe UI Semibold"/>
              </a:rPr>
              <a:t>DEMO · LESSON 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5450" y="739597"/>
            <a:ext cx="9772650" cy="5076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547"/>
              </a:lnSpc>
              <a:spcBef>
                <a:spcPts val="0"/>
              </a:spcBef>
              <a:spcAft>
                <a:spcPts val="0"/>
              </a:spcAft>
            </a:pPr>
            <a:r>
              <a:rPr sz="3225" b="1" i="0">
                <a:solidFill>
                  <a:srgbClr val="121820"/>
                </a:solidFill>
                <a:latin typeface="Segoe UI"/>
              </a:rPr>
              <a:t>The entire API surface is one request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1695450" y="1526858"/>
            <a:ext cx="9772650" cy="2811304"/>
          </a:xfrm>
          <a:prstGeom prst="rect">
            <a:avLst/>
          </a:prstGeom>
          <a:solidFill>
            <a:srgbClr val="F5F7F9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4050" y="1679553"/>
            <a:ext cx="9315450" cy="248745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8B96A2"/>
                </a:solidFill>
                <a:latin typeface="Consolas"/>
              </a:rPr>
              <a:t># text in, text out. no memory, no tools, no loop.</a:t>
            </a:r>
          </a:p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121820"/>
                </a:solidFill>
                <a:latin typeface="Consolas"/>
              </a:rPr>
              <a:t>response = client.messages.create(</a:t>
            </a:r>
          </a:p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121820"/>
                </a:solidFill>
                <a:latin typeface="Consolas"/>
              </a:rPr>
              <a:t>    model=</a:t>
            </a:r>
            <a:r>
              <a:rPr sz="1312" b="0" i="0">
                <a:solidFill>
                  <a:srgbClr val="0C7A84"/>
                </a:solidFill>
                <a:latin typeface="Consolas"/>
              </a:rPr>
              <a:t>"claude-opus-5"</a:t>
            </a:r>
            <a:r>
              <a:rPr sz="1312" b="0" i="0">
                <a:solidFill>
                  <a:srgbClr val="121820"/>
                </a:solidFill>
                <a:latin typeface="Consolas"/>
              </a:rPr>
              <a:t>,</a:t>
            </a:r>
          </a:p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121820"/>
                </a:solidFill>
                <a:latin typeface="Consolas"/>
              </a:rPr>
              <a:t>    max_tokens=1000,</a:t>
            </a:r>
          </a:p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121820"/>
                </a:solidFill>
                <a:latin typeface="Consolas"/>
              </a:rPr>
              <a:t>    messages=[{</a:t>
            </a:r>
            <a:r>
              <a:rPr sz="1312" b="0" i="0">
                <a:solidFill>
                  <a:srgbClr val="0C7A84"/>
                </a:solidFill>
                <a:latin typeface="Consolas"/>
              </a:rPr>
              <a:t>"role"</a:t>
            </a:r>
            <a:r>
              <a:rPr sz="1312" b="0" i="0">
                <a:solidFill>
                  <a:srgbClr val="121820"/>
                </a:solidFill>
                <a:latin typeface="Consolas"/>
              </a:rPr>
              <a:t>: </a:t>
            </a:r>
            <a:r>
              <a:rPr sz="1312" b="0" i="0">
                <a:solidFill>
                  <a:srgbClr val="0C7A84"/>
                </a:solidFill>
                <a:latin typeface="Consolas"/>
              </a:rPr>
              <a:t>"user"</a:t>
            </a:r>
            <a:r>
              <a:rPr sz="1312" b="0" i="0">
                <a:solidFill>
                  <a:srgbClr val="121820"/>
                </a:solidFill>
                <a:latin typeface="Consolas"/>
              </a:rPr>
              <a:t>, </a:t>
            </a:r>
            <a:r>
              <a:rPr sz="1312" b="0" i="0">
                <a:solidFill>
                  <a:srgbClr val="0C7A84"/>
                </a:solidFill>
                <a:latin typeface="Consolas"/>
              </a:rPr>
              <a:t>"content"</a:t>
            </a:r>
            <a:r>
              <a:rPr sz="1312" b="0" i="0">
                <a:solidFill>
                  <a:srgbClr val="121820"/>
                </a:solidFill>
                <a:latin typeface="Consolas"/>
              </a:rPr>
              <a:t>: </a:t>
            </a:r>
            <a:r>
              <a:rPr sz="1312" b="0" i="0">
                <a:solidFill>
                  <a:srgbClr val="0C7A84"/>
                </a:solidFill>
                <a:latin typeface="Consolas"/>
              </a:rPr>
              <a:t>"What is a token?"</a:t>
            </a:r>
            <a:r>
              <a:rPr sz="1312" b="0" i="0">
                <a:solidFill>
                  <a:srgbClr val="121820"/>
                </a:solidFill>
                <a:latin typeface="Consolas"/>
              </a:rPr>
              <a:t>}],</a:t>
            </a:r>
          </a:p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121820"/>
                </a:solidFill>
                <a:latin typeface="Consolas"/>
              </a:rPr>
              <a:t>)</a:t>
            </a:r>
          </a:p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121820"/>
                </a:solidFill>
                <a:latin typeface="Consolas"/>
              </a:rPr>
              <a:t/>
            </a:r>
          </a:p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8B96A2"/>
                </a:solidFill>
                <a:latin typeface="Consolas"/>
              </a:rPr>
              <a:t># the reply is a LIST of typed blocks, not a string</a:t>
            </a:r>
          </a:p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8B96A2"/>
                </a:solidFill>
                <a:latin typeface="Consolas"/>
              </a:rPr>
              <a:t># -&gt; [TextBlock(type='text', text='A token is ...')]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95450" y="5505450"/>
            <a:ext cx="9772650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695450" y="5648706"/>
            <a:ext cx="977265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15C68"/>
                </a:solidFill>
                <a:latin typeface="Georgia"/>
              </a:rPr>
              <a:t>Run this twice and the second call knows nothing about the first. </a:t>
            </a:r>
            <a:r>
              <a:rPr sz="1500" b="1" i="0">
                <a:solidFill>
                  <a:srgbClr val="121820"/>
                </a:solidFill>
                <a:latin typeface="Georgia"/>
              </a:rPr>
              <a:t>Everything from here on is scaffolding</a:t>
            </a:r>
          </a:p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1820"/>
                </a:solidFill>
                <a:latin typeface="Georgia"/>
              </a:rPr>
              <a:t>around this one request.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A5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50275"/>
            <a:ext cx="8572500" cy="2171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10">
                <a:solidFill>
                  <a:srgbClr val="C6D3D5"/>
                </a:solidFill>
                <a:latin typeface="Consolas"/>
              </a:rPr>
              <a:t>PART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26190"/>
            <a:ext cx="10363200" cy="873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6426"/>
              </a:lnSpc>
              <a:spcBef>
                <a:spcPts val="0"/>
              </a:spcBef>
              <a:spcAft>
                <a:spcPts val="0"/>
              </a:spcAft>
            </a:pPr>
            <a:r>
              <a:rPr sz="6300" b="1" i="0">
                <a:solidFill>
                  <a:srgbClr val="FBFAF8"/>
                </a:solidFill>
                <a:latin typeface="Segoe UI"/>
              </a:rPr>
              <a:t>AI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39777"/>
            <a:ext cx="5915025" cy="7978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915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>
                <a:solidFill>
                  <a:srgbClr val="C6D3D5"/>
                </a:solidFill>
                <a:latin typeface="Georgia"/>
              </a:rPr>
              <a:t>Giving the model a way to affect the world — and</a:t>
            </a:r>
          </a:p>
          <a:p>
            <a:pPr>
              <a:lnSpc>
                <a:spcPts val="2915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>
                <a:solidFill>
                  <a:srgbClr val="C6D3D5"/>
                </a:solidFill>
                <a:latin typeface="Georgia"/>
              </a:rPr>
              <a:t>keeping the switch in your hands.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200150" y="552450"/>
            <a:ext cx="0" cy="571500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709612" y="595312"/>
            <a:ext cx="104775" cy="104775"/>
          </a:xfrm>
          <a:prstGeom prst="ellipse">
            <a:avLst/>
          </a:prstGeom>
          <a:solidFill>
            <a:srgbClr val="A26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0550" y="952500"/>
            <a:ext cx="342900" cy="4914900"/>
          </a:xfrm>
          <a:prstGeom prst="rect">
            <a:avLst/>
          </a:prstGeom>
          <a:noFill/>
        </p:spPr>
        <p:txBody>
          <a:bodyPr wrap="none" lIns="0" rIns="0" tIns="0" bIns="0" anchor="ctr" vert="vert270">
            <a:noAutofit/>
          </a:bodyPr>
          <a:lstStyle/>
          <a:p>
            <a:pPr algn="ctr"/>
            <a:r>
              <a:rPr sz="825" spc="157">
                <a:solidFill>
                  <a:srgbClr val="8B96A2"/>
                </a:solidFill>
                <a:latin typeface="Segoe UI Semibold"/>
              </a:rPr>
              <a:t>AI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6077331"/>
            <a:ext cx="5715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125"/>
              </a:lnSpc>
            </a:pPr>
            <a:r>
              <a:rPr sz="900" b="0" i="0">
                <a:solidFill>
                  <a:srgbClr val="8B96A2"/>
                </a:solidFill>
                <a:latin typeface="Consola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5450" y="518160"/>
            <a:ext cx="977265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 spc="169">
                <a:solidFill>
                  <a:srgbClr val="A2631A"/>
                </a:solidFill>
                <a:latin typeface="Segoe UI Semibold"/>
              </a:rPr>
              <a:t>FIXING LIMIT №2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5450" y="739597"/>
            <a:ext cx="9772650" cy="5076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547"/>
              </a:lnSpc>
              <a:spcBef>
                <a:spcPts val="0"/>
              </a:spcBef>
              <a:spcAft>
                <a:spcPts val="0"/>
              </a:spcAft>
            </a:pPr>
            <a:r>
              <a:rPr sz="3225" b="1" i="0">
                <a:solidFill>
                  <a:srgbClr val="121820"/>
                </a:solidFill>
                <a:latin typeface="Segoe UI"/>
              </a:rPr>
              <a:t>A tool is a function, described in words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5450" y="1443464"/>
            <a:ext cx="8795385" cy="10995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21820"/>
                </a:solidFill>
                <a:latin typeface="Georgia"/>
              </a:rPr>
              <a:t>You hand the model a list of functions it may request: a name, a description, and the</a:t>
            </a:r>
          </a:p>
          <a:p>
            <a:pPr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21820"/>
                </a:solidFill>
                <a:latin typeface="Georgia"/>
              </a:rPr>
              <a:t>shape of the arguments. The description is not documentation for you — </a:t>
            </a:r>
            <a:r>
              <a:rPr sz="1800" b="1" i="0">
                <a:solidFill>
                  <a:srgbClr val="121820"/>
                </a:solidFill>
                <a:latin typeface="Georgia"/>
              </a:rPr>
              <a:t>it is the</a:t>
            </a:r>
          </a:p>
          <a:p>
            <a:pPr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1820"/>
                </a:solidFill>
                <a:latin typeface="Georgia"/>
              </a:rPr>
              <a:t>prompt the model reads when deciding what to call.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95450" y="2759774"/>
            <a:ext cx="9772650" cy="2271236"/>
          </a:xfrm>
          <a:prstGeom prst="rect">
            <a:avLst/>
          </a:prstGeom>
          <a:solidFill>
            <a:srgbClr val="F5F7F9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4050" y="2912469"/>
            <a:ext cx="9315450" cy="194738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A2631A"/>
                </a:solidFill>
                <a:latin typeface="Consolas"/>
              </a:rPr>
              <a:t>@beta_tool</a:t>
            </a:r>
          </a:p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121820"/>
                </a:solidFill>
                <a:latin typeface="Consolas"/>
              </a:rPr>
              <a:t>def get_weather(location: str, unit: str = </a:t>
            </a:r>
            <a:r>
              <a:rPr sz="1312" b="0" i="0">
                <a:solidFill>
                  <a:srgbClr val="A2631A"/>
                </a:solidFill>
                <a:latin typeface="Consolas"/>
              </a:rPr>
              <a:t>"celsius"</a:t>
            </a:r>
            <a:r>
              <a:rPr sz="1312" b="0" i="0">
                <a:solidFill>
                  <a:srgbClr val="121820"/>
                </a:solidFill>
                <a:latin typeface="Consolas"/>
              </a:rPr>
              <a:t>) -&gt; str:</a:t>
            </a:r>
          </a:p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8B96A2"/>
                </a:solidFill>
                <a:latin typeface="Consolas"/>
              </a:rPr>
              <a:t>    """Get the current weather for a location.</a:t>
            </a:r>
          </a:p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121820"/>
                </a:solidFill>
                <a:latin typeface="Consolas"/>
              </a:rPr>
              <a:t/>
            </a:r>
          </a:p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8B96A2"/>
                </a:solidFill>
                <a:latin typeface="Consolas"/>
              </a:rPr>
              <a:t>    Args:</a:t>
            </a:r>
          </a:p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8B96A2"/>
                </a:solidFill>
                <a:latin typeface="Consolas"/>
              </a:rPr>
              <a:t>        location: City and region, e.g. "Pune, MH".</a:t>
            </a:r>
          </a:p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8B96A2"/>
                </a:solidFill>
                <a:latin typeface="Consolas"/>
              </a:rPr>
              <a:t>    """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695450" y="5505450"/>
            <a:ext cx="9772650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695450" y="5648706"/>
            <a:ext cx="977265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15C68"/>
                </a:solidFill>
                <a:latin typeface="Georgia"/>
              </a:rPr>
              <a:t>Vague descriptions produce wrong tool calls. </a:t>
            </a:r>
            <a:r>
              <a:rPr sz="1500" b="1" i="0">
                <a:solidFill>
                  <a:srgbClr val="121820"/>
                </a:solidFill>
                <a:latin typeface="Georgia"/>
              </a:rPr>
              <a:t>Most "the model chose badly" bugs are actually docstring</a:t>
            </a:r>
          </a:p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1820"/>
                </a:solidFill>
                <a:latin typeface="Georgia"/>
              </a:rPr>
              <a:t>bugs.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200150" y="552450"/>
            <a:ext cx="0" cy="571500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709612" y="595312"/>
            <a:ext cx="104775" cy="104775"/>
          </a:xfrm>
          <a:prstGeom prst="ellipse">
            <a:avLst/>
          </a:prstGeom>
          <a:solidFill>
            <a:srgbClr val="A26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0550" y="952500"/>
            <a:ext cx="342900" cy="4914900"/>
          </a:xfrm>
          <a:prstGeom prst="rect">
            <a:avLst/>
          </a:prstGeom>
          <a:noFill/>
        </p:spPr>
        <p:txBody>
          <a:bodyPr wrap="none" lIns="0" rIns="0" tIns="0" bIns="0" anchor="ctr" vert="vert270">
            <a:noAutofit/>
          </a:bodyPr>
          <a:lstStyle/>
          <a:p>
            <a:pPr algn="ctr"/>
            <a:r>
              <a:rPr sz="825" spc="157">
                <a:solidFill>
                  <a:srgbClr val="8B96A2"/>
                </a:solidFill>
                <a:latin typeface="Segoe UI Semibold"/>
              </a:rPr>
              <a:t>AI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6077331"/>
            <a:ext cx="5715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125"/>
              </a:lnSpc>
            </a:pPr>
            <a:r>
              <a:rPr sz="900" b="0" i="0">
                <a:solidFill>
                  <a:srgbClr val="8B96A2"/>
                </a:solidFill>
                <a:latin typeface="Consola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5450" y="518160"/>
            <a:ext cx="977265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 spc="169">
                <a:solidFill>
                  <a:srgbClr val="A2631A"/>
                </a:solidFill>
                <a:latin typeface="Segoe UI Semibold"/>
              </a:rPr>
              <a:t>THE CORE MECHANIC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5450" y="739597"/>
            <a:ext cx="9772650" cy="5076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547"/>
              </a:lnSpc>
              <a:spcBef>
                <a:spcPts val="0"/>
              </a:spcBef>
              <a:spcAft>
                <a:spcPts val="0"/>
              </a:spcAft>
            </a:pPr>
            <a:r>
              <a:rPr sz="3225" b="1" i="0">
                <a:solidFill>
                  <a:srgbClr val="121820"/>
                </a:solidFill>
                <a:latin typeface="Segoe UI"/>
              </a:rPr>
              <a:t>The loop that makes it an 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4050" y="2479358"/>
            <a:ext cx="1428750" cy="571500"/>
          </a:xfrm>
          <a:prstGeom prst="rect">
            <a:avLst/>
          </a:prstGeom>
          <a:solidFill>
            <a:srgbClr val="F5F7F9"/>
          </a:solidFill>
          <a:ln w="15240">
            <a:solidFill>
              <a:srgbClr val="A263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4050" y="2479358"/>
            <a:ext cx="1428750" cy="571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12"/>
              </a:lnSpc>
            </a:pPr>
            <a:r>
              <a:rPr sz="1050" b="0" i="0">
                <a:solidFill>
                  <a:srgbClr val="A2631A"/>
                </a:solidFill>
                <a:latin typeface="Segoe UI Semibold"/>
              </a:rPr>
              <a:t>Your code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09950" y="2765108"/>
            <a:ext cx="1619250" cy="0"/>
          </a:xfrm>
          <a:prstGeom prst="line">
            <a:avLst/>
          </a:prstGeom>
          <a:ln w="10477">
            <a:solidFill>
              <a:srgbClr val="8B96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419350" y="2505123"/>
            <a:ext cx="3619500" cy="21907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078"/>
              </a:lnSpc>
            </a:pPr>
            <a:r>
              <a:rPr sz="862" b="0" i="0">
                <a:solidFill>
                  <a:srgbClr val="515C68"/>
                </a:solidFill>
                <a:latin typeface="Consolas"/>
              </a:rPr>
              <a:t>prompt + tool defs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05400" y="2422208"/>
            <a:ext cx="1524000" cy="685800"/>
          </a:xfrm>
          <a:prstGeom prst="rect">
            <a:avLst/>
          </a:prstGeom>
          <a:solidFill>
            <a:srgbClr val="F5F7F9"/>
          </a:solidFill>
          <a:ln w="11429">
            <a:solidFill>
              <a:srgbClr val="8B96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05400" y="2422208"/>
            <a:ext cx="1524000" cy="685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12"/>
              </a:lnSpc>
            </a:pPr>
            <a:r>
              <a:rPr sz="1050" b="0" i="0">
                <a:solidFill>
                  <a:srgbClr val="121820"/>
                </a:solidFill>
                <a:latin typeface="Segoe UI Semibold"/>
              </a:rPr>
              <a:t>Model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686550" y="2612708"/>
            <a:ext cx="1676400" cy="0"/>
          </a:xfrm>
          <a:prstGeom prst="line">
            <a:avLst/>
          </a:prstGeom>
          <a:ln w="10477">
            <a:solidFill>
              <a:srgbClr val="8B96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8362950" y="2288858"/>
            <a:ext cx="0" cy="323850"/>
          </a:xfrm>
          <a:prstGeom prst="line">
            <a:avLst/>
          </a:prstGeom>
          <a:ln w="10477">
            <a:solidFill>
              <a:srgbClr val="8B96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695950" y="2352723"/>
            <a:ext cx="3619500" cy="21907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078"/>
              </a:lnSpc>
            </a:pPr>
            <a:r>
              <a:rPr sz="862" b="0" i="0">
                <a:solidFill>
                  <a:srgbClr val="515C68"/>
                </a:solidFill>
                <a:latin typeface="Consolas"/>
              </a:rPr>
              <a:t>text · stop_reason = end_turn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91450" y="1850708"/>
            <a:ext cx="1143000" cy="400050"/>
          </a:xfrm>
          <a:prstGeom prst="rect">
            <a:avLst/>
          </a:prstGeom>
          <a:noFill/>
          <a:ln w="10477">
            <a:solidFill>
              <a:srgbClr val="D2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1450" y="1850708"/>
            <a:ext cx="1143000" cy="4000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12"/>
              </a:lnSpc>
            </a:pPr>
            <a:r>
              <a:rPr sz="1050" b="0" i="0">
                <a:solidFill>
                  <a:srgbClr val="121820"/>
                </a:solidFill>
                <a:latin typeface="Segoe UI Semibold"/>
              </a:rPr>
              <a:t>Answer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686550" y="2955608"/>
            <a:ext cx="1676400" cy="0"/>
          </a:xfrm>
          <a:prstGeom prst="line">
            <a:avLst/>
          </a:prstGeom>
          <a:ln w="11429">
            <a:solidFill>
              <a:srgbClr val="A263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362950" y="2955608"/>
            <a:ext cx="0" cy="476250"/>
          </a:xfrm>
          <a:prstGeom prst="line">
            <a:avLst/>
          </a:prstGeom>
          <a:ln w="11429">
            <a:solidFill>
              <a:srgbClr val="A263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0" y="3000423"/>
            <a:ext cx="3619500" cy="21907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078"/>
              </a:lnSpc>
            </a:pPr>
            <a:r>
              <a:rPr sz="862" b="0" i="0">
                <a:solidFill>
                  <a:srgbClr val="A2631A"/>
                </a:solidFill>
                <a:latin typeface="Consolas"/>
              </a:rPr>
              <a:t>tool_use request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34250" y="3469958"/>
            <a:ext cx="2057400" cy="571500"/>
          </a:xfrm>
          <a:prstGeom prst="rect">
            <a:avLst/>
          </a:prstGeom>
          <a:solidFill>
            <a:srgbClr val="F5F7F9"/>
          </a:solidFill>
          <a:ln w="15240">
            <a:solidFill>
              <a:srgbClr val="A263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3200" y="3530727"/>
            <a:ext cx="3619500" cy="266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12"/>
              </a:lnSpc>
            </a:pPr>
            <a:r>
              <a:rPr sz="1050" b="0" i="0">
                <a:solidFill>
                  <a:srgbClr val="A2631A"/>
                </a:solidFill>
                <a:latin typeface="Segoe UI Semibold"/>
              </a:rPr>
              <a:t>Your code runs the tool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3200" y="3743373"/>
            <a:ext cx="3619500" cy="21907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078"/>
              </a:lnSpc>
            </a:pPr>
            <a:r>
              <a:rPr sz="862" b="0" i="0">
                <a:solidFill>
                  <a:srgbClr val="515C68"/>
                </a:solidFill>
                <a:latin typeface="Consolas"/>
              </a:rPr>
              <a:t>check · execute · catch errors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5867400" y="3755708"/>
            <a:ext cx="1466850" cy="0"/>
          </a:xfrm>
          <a:prstGeom prst="line">
            <a:avLst/>
          </a:prstGeom>
          <a:ln w="11429">
            <a:solidFill>
              <a:srgbClr val="A263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867400" y="3165158"/>
            <a:ext cx="0" cy="590550"/>
          </a:xfrm>
          <a:prstGeom prst="line">
            <a:avLst/>
          </a:prstGeom>
          <a:ln w="11429">
            <a:solidFill>
              <a:srgbClr val="A263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648200" y="3800523"/>
            <a:ext cx="3619500" cy="21907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078"/>
              </a:lnSpc>
            </a:pPr>
            <a:r>
              <a:rPr sz="862" b="0" i="0">
                <a:solidFill>
                  <a:srgbClr val="A2631A"/>
                </a:solidFill>
                <a:latin typeface="Consolas"/>
              </a:rPr>
              <a:t>tool_result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77400" y="3584638"/>
            <a:ext cx="36195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25"/>
              </a:lnSpc>
            </a:pPr>
            <a:r>
              <a:rPr sz="900" b="0" i="0" spc="90">
                <a:solidFill>
                  <a:srgbClr val="8B96A2"/>
                </a:solidFill>
                <a:latin typeface="Segoe UI"/>
              </a:rPr>
              <a:t>LOOP UNTIL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77400" y="3756088"/>
            <a:ext cx="36195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25"/>
              </a:lnSpc>
            </a:pPr>
            <a:r>
              <a:rPr sz="900" b="0" i="0" spc="90">
                <a:solidFill>
                  <a:srgbClr val="8B96A2"/>
                </a:solidFill>
                <a:latin typeface="Segoe UI"/>
              </a:rPr>
              <a:t>NO TOOL IS REQUESTED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5450" y="4286593"/>
            <a:ext cx="8013573" cy="55435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15C68"/>
                </a:solidFill>
                <a:latin typeface="Georgia"/>
              </a:rPr>
              <a:t>Model, tools, and a loop. Remove the loop and you have a single call; remove the tools and the loop has</a:t>
            </a:r>
          </a:p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15C68"/>
                </a:solidFill>
                <a:latin typeface="Georgia"/>
              </a:rPr>
              <a:t>nothing to 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200150" y="552450"/>
            <a:ext cx="0" cy="571500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709612" y="595312"/>
            <a:ext cx="104775" cy="104775"/>
          </a:xfrm>
          <a:prstGeom prst="ellipse">
            <a:avLst/>
          </a:prstGeom>
          <a:solidFill>
            <a:srgbClr val="A26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0550" y="952500"/>
            <a:ext cx="342900" cy="4914900"/>
          </a:xfrm>
          <a:prstGeom prst="rect">
            <a:avLst/>
          </a:prstGeom>
          <a:noFill/>
        </p:spPr>
        <p:txBody>
          <a:bodyPr wrap="none" lIns="0" rIns="0" tIns="0" bIns="0" anchor="ctr" vert="vert270">
            <a:noAutofit/>
          </a:bodyPr>
          <a:lstStyle/>
          <a:p>
            <a:pPr algn="ctr"/>
            <a:r>
              <a:rPr sz="825" spc="157">
                <a:solidFill>
                  <a:srgbClr val="8B96A2"/>
                </a:solidFill>
                <a:latin typeface="Segoe UI Semibold"/>
              </a:rPr>
              <a:t>AI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6077331"/>
            <a:ext cx="5715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125"/>
              </a:lnSpc>
            </a:pPr>
            <a:r>
              <a:rPr sz="900" b="0" i="0">
                <a:solidFill>
                  <a:srgbClr val="8B96A2"/>
                </a:solidFill>
                <a:latin typeface="Consola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5450" y="518160"/>
            <a:ext cx="977265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 spc="169">
                <a:solidFill>
                  <a:srgbClr val="A2631A"/>
                </a:solidFill>
                <a:latin typeface="Segoe UI Semibold"/>
              </a:rPr>
              <a:t>THE DETAIL MOST EXPLANATIONS SKIP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5450" y="739597"/>
            <a:ext cx="9772650" cy="5076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547"/>
              </a:lnSpc>
              <a:spcBef>
                <a:spcPts val="0"/>
              </a:spcBef>
              <a:spcAft>
                <a:spcPts val="0"/>
              </a:spcAft>
            </a:pPr>
            <a:r>
              <a:rPr sz="3225" b="1" i="0">
                <a:solidFill>
                  <a:srgbClr val="121820"/>
                </a:solidFill>
                <a:latin typeface="Segoe UI"/>
              </a:rPr>
              <a:t>"The AI booked my flight." It didn’t.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5450" y="1443464"/>
            <a:ext cx="8795385" cy="7520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21820"/>
                </a:solidFill>
                <a:latin typeface="Georgia"/>
              </a:rPr>
              <a:t>The model produced a block of JSON naming a function and its arguments. </a:t>
            </a:r>
            <a:r>
              <a:rPr sz="1800" b="1" i="0">
                <a:solidFill>
                  <a:srgbClr val="121820"/>
                </a:solidFill>
                <a:latin typeface="Georgia"/>
              </a:rPr>
              <a:t>Your</a:t>
            </a:r>
          </a:p>
          <a:p>
            <a:pPr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1820"/>
                </a:solidFill>
                <a:latin typeface="Georgia"/>
              </a:rPr>
              <a:t>software</a:t>
            </a:r>
            <a:r>
              <a:rPr sz="1800" b="0" i="0">
                <a:solidFill>
                  <a:srgbClr val="121820"/>
                </a:solidFill>
                <a:latin typeface="Georgia"/>
              </a:rPr>
              <a:t> read that JSON, decided to honour it, and called the airline’s API.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95450" y="2412302"/>
            <a:ext cx="9772650" cy="1191101"/>
          </a:xfrm>
          <a:prstGeom prst="rect">
            <a:avLst/>
          </a:prstGeom>
          <a:solidFill>
            <a:srgbClr val="F5F7F9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4050" y="2564997"/>
            <a:ext cx="9315450" cy="8672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8B96A2"/>
                </a:solidFill>
                <a:latin typeface="Consolas"/>
              </a:rPr>
              <a:t># what the model actually emits — inert text:</a:t>
            </a:r>
          </a:p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121820"/>
                </a:solidFill>
                <a:latin typeface="Consolas"/>
              </a:rPr>
              <a:t>{</a:t>
            </a:r>
            <a:r>
              <a:rPr sz="1312" b="0" i="0">
                <a:solidFill>
                  <a:srgbClr val="A2631A"/>
                </a:solidFill>
                <a:latin typeface="Consolas"/>
              </a:rPr>
              <a:t>"type"</a:t>
            </a:r>
            <a:r>
              <a:rPr sz="1312" b="0" i="0">
                <a:solidFill>
                  <a:srgbClr val="121820"/>
                </a:solidFill>
                <a:latin typeface="Consolas"/>
              </a:rPr>
              <a:t>: </a:t>
            </a:r>
            <a:r>
              <a:rPr sz="1312" b="0" i="0">
                <a:solidFill>
                  <a:srgbClr val="A2631A"/>
                </a:solidFill>
                <a:latin typeface="Consolas"/>
              </a:rPr>
              <a:t>"tool_use"</a:t>
            </a:r>
            <a:r>
              <a:rPr sz="1312" b="0" i="0">
                <a:solidFill>
                  <a:srgbClr val="121820"/>
                </a:solidFill>
                <a:latin typeface="Consolas"/>
              </a:rPr>
              <a:t>, </a:t>
            </a:r>
            <a:r>
              <a:rPr sz="1312" b="0" i="0">
                <a:solidFill>
                  <a:srgbClr val="A2631A"/>
                </a:solidFill>
                <a:latin typeface="Consolas"/>
              </a:rPr>
              <a:t>"name"</a:t>
            </a:r>
            <a:r>
              <a:rPr sz="1312" b="0" i="0">
                <a:solidFill>
                  <a:srgbClr val="121820"/>
                </a:solidFill>
                <a:latin typeface="Consolas"/>
              </a:rPr>
              <a:t>: </a:t>
            </a:r>
            <a:r>
              <a:rPr sz="1312" b="0" i="0">
                <a:solidFill>
                  <a:srgbClr val="A2631A"/>
                </a:solidFill>
                <a:latin typeface="Consolas"/>
              </a:rPr>
              <a:t>"book_flight"</a:t>
            </a:r>
            <a:r>
              <a:rPr sz="1312" b="0" i="0">
                <a:solidFill>
                  <a:srgbClr val="121820"/>
                </a:solidFill>
                <a:latin typeface="Consolas"/>
              </a:rPr>
              <a:t>,</a:t>
            </a:r>
          </a:p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121820"/>
                </a:solidFill>
                <a:latin typeface="Consolas"/>
              </a:rPr>
              <a:t> </a:t>
            </a:r>
            <a:r>
              <a:rPr sz="1312" b="0" i="0">
                <a:solidFill>
                  <a:srgbClr val="A2631A"/>
                </a:solidFill>
                <a:latin typeface="Consolas"/>
              </a:rPr>
              <a:t>"input"</a:t>
            </a:r>
            <a:r>
              <a:rPr sz="1312" b="0" i="0">
                <a:solidFill>
                  <a:srgbClr val="121820"/>
                </a:solidFill>
                <a:latin typeface="Consolas"/>
              </a:rPr>
              <a:t>: {</a:t>
            </a:r>
            <a:r>
              <a:rPr sz="1312" b="0" i="0">
                <a:solidFill>
                  <a:srgbClr val="A2631A"/>
                </a:solidFill>
                <a:latin typeface="Consolas"/>
              </a:rPr>
              <a:t>"to"</a:t>
            </a:r>
            <a:r>
              <a:rPr sz="1312" b="0" i="0">
                <a:solidFill>
                  <a:srgbClr val="121820"/>
                </a:solidFill>
                <a:latin typeface="Consolas"/>
              </a:rPr>
              <a:t>: </a:t>
            </a:r>
            <a:r>
              <a:rPr sz="1312" b="0" i="0">
                <a:solidFill>
                  <a:srgbClr val="A2631A"/>
                </a:solidFill>
                <a:latin typeface="Consolas"/>
              </a:rPr>
              <a:t>"NRT"</a:t>
            </a:r>
            <a:r>
              <a:rPr sz="1312" b="0" i="0">
                <a:solidFill>
                  <a:srgbClr val="121820"/>
                </a:solidFill>
                <a:latin typeface="Consolas"/>
              </a:rPr>
              <a:t>, </a:t>
            </a:r>
            <a:r>
              <a:rPr sz="1312" b="0" i="0">
                <a:solidFill>
                  <a:srgbClr val="A2631A"/>
                </a:solidFill>
                <a:latin typeface="Consolas"/>
              </a:rPr>
              <a:t>"passengers"</a:t>
            </a:r>
            <a:r>
              <a:rPr sz="1312" b="0" i="0">
                <a:solidFill>
                  <a:srgbClr val="121820"/>
                </a:solidFill>
                <a:latin typeface="Consolas"/>
              </a:rPr>
              <a:t>: 2}}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695450" y="5229225"/>
            <a:ext cx="9772650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695450" y="5372481"/>
            <a:ext cx="9772650" cy="8858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15C68"/>
                </a:solidFill>
                <a:latin typeface="Georgia"/>
              </a:rPr>
              <a:t>Three things follow. </a:t>
            </a:r>
            <a:r>
              <a:rPr sz="1500" b="1" i="0">
                <a:solidFill>
                  <a:srgbClr val="121820"/>
                </a:solidFill>
                <a:latin typeface="Georgia"/>
              </a:rPr>
              <a:t>Your guardrails live in your code</a:t>
            </a:r>
            <a:r>
              <a:rPr sz="1500" b="0" i="0">
                <a:solidFill>
                  <a:srgbClr val="515C68"/>
                </a:solidFill>
                <a:latin typeface="Georgia"/>
              </a:rPr>
              <a:t>, because that is the only place execution happens. </a:t>
            </a:r>
          </a:p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1820"/>
                </a:solidFill>
                <a:latin typeface="Georgia"/>
              </a:rPr>
              <a:t>Approval gates go in the tool</a:t>
            </a:r>
            <a:r>
              <a:rPr sz="1500" b="0" i="0">
                <a:solidFill>
                  <a:srgbClr val="515C68"/>
                </a:solidFill>
                <a:latin typeface="Georgia"/>
              </a:rPr>
              <a:t>, not the prompt. And when it misbehaves, </a:t>
            </a:r>
            <a:r>
              <a:rPr sz="1500" b="1" i="0">
                <a:solidFill>
                  <a:srgbClr val="121820"/>
                </a:solidFill>
                <a:latin typeface="Georgia"/>
              </a:rPr>
              <a:t>suspect your tool before the</a:t>
            </a:r>
          </a:p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1820"/>
                </a:solidFill>
                <a:latin typeface="Georgia"/>
              </a:rPr>
              <a:t>model.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200150" y="552450"/>
            <a:ext cx="0" cy="571500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709612" y="595312"/>
            <a:ext cx="104775" cy="104775"/>
          </a:xfrm>
          <a:prstGeom prst="ellipse">
            <a:avLst/>
          </a:prstGeom>
          <a:solidFill>
            <a:srgbClr val="A26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0550" y="952500"/>
            <a:ext cx="342900" cy="4914900"/>
          </a:xfrm>
          <a:prstGeom prst="rect">
            <a:avLst/>
          </a:prstGeom>
          <a:noFill/>
        </p:spPr>
        <p:txBody>
          <a:bodyPr wrap="none" lIns="0" rIns="0" tIns="0" bIns="0" anchor="ctr" vert="vert270">
            <a:noAutofit/>
          </a:bodyPr>
          <a:lstStyle/>
          <a:p>
            <a:pPr algn="ctr"/>
            <a:r>
              <a:rPr sz="825" spc="157">
                <a:solidFill>
                  <a:srgbClr val="8B96A2"/>
                </a:solidFill>
                <a:latin typeface="Segoe UI Semibold"/>
              </a:rPr>
              <a:t>AI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6077331"/>
            <a:ext cx="5715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125"/>
              </a:lnSpc>
            </a:pPr>
            <a:r>
              <a:rPr sz="900" b="0" i="0">
                <a:solidFill>
                  <a:srgbClr val="8B96A2"/>
                </a:solidFill>
                <a:latin typeface="Consola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5450" y="518160"/>
            <a:ext cx="977265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 spc="169">
                <a:solidFill>
                  <a:srgbClr val="A2631A"/>
                </a:solidFill>
                <a:latin typeface="Segoe UI Semibold"/>
              </a:rPr>
              <a:t>ANATOMY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5450" y="739597"/>
            <a:ext cx="9772650" cy="5076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547"/>
              </a:lnSpc>
              <a:spcBef>
                <a:spcPts val="0"/>
              </a:spcBef>
              <a:spcAft>
                <a:spcPts val="0"/>
              </a:spcAft>
            </a:pPr>
            <a:r>
              <a:rPr sz="3225" b="1" i="0">
                <a:solidFill>
                  <a:srgbClr val="121820"/>
                </a:solidFill>
                <a:latin typeface="Segoe UI"/>
              </a:rPr>
              <a:t>Five parts, and one of them is always skipped</a:t>
            </a:r>
          </a:p>
        </p:txBody>
      </p:sp>
      <p:sp>
        <p:nvSpPr>
          <p:cNvPr id="9" name="Rectangle 8"/>
          <p:cNvSpPr/>
          <p:nvPr/>
        </p:nvSpPr>
        <p:spPr>
          <a:xfrm>
            <a:off x="1695450" y="1526858"/>
            <a:ext cx="3117850" cy="1142619"/>
          </a:xfrm>
          <a:prstGeom prst="rect">
            <a:avLst/>
          </a:prstGeom>
          <a:solidFill>
            <a:srgbClr val="F5F7F9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95450" y="1526858"/>
            <a:ext cx="3117850" cy="28575"/>
          </a:xfrm>
          <a:prstGeom prst="rect">
            <a:avLst/>
          </a:prstGeom>
          <a:solidFill>
            <a:srgbClr val="A26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05000" y="1663065"/>
            <a:ext cx="2698750" cy="2833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>
                <a:solidFill>
                  <a:srgbClr val="A2631A"/>
                </a:solidFill>
                <a:latin typeface="Segoe UI"/>
              </a:rPr>
              <a:t>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05000" y="1884281"/>
            <a:ext cx="2698750" cy="5711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515C68"/>
                </a:solidFill>
                <a:latin typeface="Georgia"/>
              </a:rPr>
              <a:t>Decides what to call and reads</a:t>
            </a:r>
          </a:p>
          <a:p>
            <a:pPr>
              <a:lnSpc>
                <a:spcPts val="20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515C68"/>
                </a:solidFill>
                <a:latin typeface="Georgia"/>
              </a:rPr>
              <a:t>the results.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2850" y="1526858"/>
            <a:ext cx="3117850" cy="1142619"/>
          </a:xfrm>
          <a:prstGeom prst="rect">
            <a:avLst/>
          </a:prstGeom>
          <a:solidFill>
            <a:srgbClr val="F5F7F9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2850" y="1526858"/>
            <a:ext cx="3117850" cy="28575"/>
          </a:xfrm>
          <a:prstGeom prst="rect">
            <a:avLst/>
          </a:prstGeom>
          <a:solidFill>
            <a:srgbClr val="A26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2400" y="1663065"/>
            <a:ext cx="2698750" cy="2833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>
                <a:solidFill>
                  <a:srgbClr val="A2631A"/>
                </a:solidFill>
                <a:latin typeface="Segoe UI"/>
              </a:rPr>
              <a:t>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2400" y="1884281"/>
            <a:ext cx="2698750" cy="5711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515C68"/>
                </a:solidFill>
                <a:latin typeface="Georgia"/>
              </a:rPr>
              <a:t>What it may request, described</a:t>
            </a:r>
          </a:p>
          <a:p>
            <a:pPr>
              <a:lnSpc>
                <a:spcPts val="20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515C68"/>
                </a:solidFill>
                <a:latin typeface="Georgia"/>
              </a:rPr>
              <a:t>well enough to choose between.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50250" y="1526858"/>
            <a:ext cx="3117850" cy="1142619"/>
          </a:xfrm>
          <a:prstGeom prst="rect">
            <a:avLst/>
          </a:prstGeom>
          <a:solidFill>
            <a:srgbClr val="F5F7F9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50250" y="1526858"/>
            <a:ext cx="3117850" cy="28575"/>
          </a:xfrm>
          <a:prstGeom prst="rect">
            <a:avLst/>
          </a:prstGeom>
          <a:solidFill>
            <a:srgbClr val="A26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59800" y="1663065"/>
            <a:ext cx="2698750" cy="2833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>
                <a:solidFill>
                  <a:srgbClr val="A2631A"/>
                </a:solidFill>
                <a:latin typeface="Segoe UI"/>
              </a:rPr>
              <a:t>Loop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59800" y="1884281"/>
            <a:ext cx="2698750" cy="5711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515C68"/>
                </a:solidFill>
                <a:latin typeface="Georgia"/>
              </a:rPr>
              <a:t>Call, execute, feed back, repeat</a:t>
            </a:r>
          </a:p>
          <a:p>
            <a:pPr>
              <a:lnSpc>
                <a:spcPts val="20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515C68"/>
                </a:solidFill>
                <a:latin typeface="Georgia"/>
              </a:rPr>
              <a:t>until done.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95450" y="2879026"/>
            <a:ext cx="3117850" cy="1399604"/>
          </a:xfrm>
          <a:prstGeom prst="rect">
            <a:avLst/>
          </a:prstGeom>
          <a:solidFill>
            <a:srgbClr val="F5F7F9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695450" y="2879026"/>
            <a:ext cx="3117850" cy="28575"/>
          </a:xfrm>
          <a:prstGeom prst="rect">
            <a:avLst/>
          </a:prstGeom>
          <a:solidFill>
            <a:srgbClr val="A26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05000" y="3015234"/>
            <a:ext cx="2698750" cy="2833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>
                <a:solidFill>
                  <a:srgbClr val="A2631A"/>
                </a:solidFill>
                <a:latin typeface="Segoe UI"/>
              </a:rPr>
              <a:t>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05000" y="3236450"/>
            <a:ext cx="2698750" cy="8281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515C68"/>
                </a:solidFill>
                <a:latin typeface="Georgia"/>
              </a:rPr>
              <a:t>The message history you</a:t>
            </a:r>
          </a:p>
          <a:p>
            <a:pPr>
              <a:lnSpc>
                <a:spcPts val="20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515C68"/>
                </a:solidFill>
                <a:latin typeface="Georgia"/>
              </a:rPr>
              <a:t>re-send, since the model holds</a:t>
            </a:r>
          </a:p>
          <a:p>
            <a:pPr>
              <a:lnSpc>
                <a:spcPts val="20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515C68"/>
                </a:solidFill>
                <a:latin typeface="Georgia"/>
              </a:rPr>
              <a:t>none.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2850" y="2879026"/>
            <a:ext cx="3117850" cy="1399604"/>
          </a:xfrm>
          <a:prstGeom prst="rect">
            <a:avLst/>
          </a:prstGeom>
          <a:solidFill>
            <a:srgbClr val="F5F7F9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2850" y="2879026"/>
            <a:ext cx="3117850" cy="28575"/>
          </a:xfrm>
          <a:prstGeom prst="rect">
            <a:avLst/>
          </a:prstGeom>
          <a:solidFill>
            <a:srgbClr val="A9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32400" y="3015234"/>
            <a:ext cx="2698750" cy="2833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>
                <a:solidFill>
                  <a:srgbClr val="A93A2C"/>
                </a:solidFill>
                <a:latin typeface="Segoe UI"/>
              </a:rPr>
              <a:t>Bounds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2400" y="3236450"/>
            <a:ext cx="2698750" cy="8281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515C68"/>
                </a:solidFill>
                <a:latin typeface="Georgia"/>
              </a:rPr>
              <a:t>Iteration cap, spend cap, a log of</a:t>
            </a:r>
          </a:p>
          <a:p>
            <a:pPr>
              <a:lnSpc>
                <a:spcPts val="20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515C68"/>
                </a:solidFill>
                <a:latin typeface="Georgia"/>
              </a:rPr>
              <a:t>every call. Skipped almost every</a:t>
            </a:r>
          </a:p>
          <a:p>
            <a:pPr>
              <a:lnSpc>
                <a:spcPts val="20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515C68"/>
                </a:solidFill>
                <a:latin typeface="Georgia"/>
              </a:rPr>
              <a:t>time.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50250" y="2879026"/>
            <a:ext cx="3117850" cy="1399604"/>
          </a:xfrm>
          <a:prstGeom prst="rect">
            <a:avLst/>
          </a:prstGeom>
          <a:solidFill>
            <a:srgbClr val="F5F7F9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50250" y="2879026"/>
            <a:ext cx="3117850" cy="28575"/>
          </a:xfrm>
          <a:prstGeom prst="rect">
            <a:avLst/>
          </a:prstGeom>
          <a:solidFill>
            <a:srgbClr val="D2D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59800" y="3007850"/>
            <a:ext cx="2698750" cy="8281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1">
                <a:solidFill>
                  <a:srgbClr val="515C68"/>
                </a:solidFill>
                <a:latin typeface="Georgia"/>
              </a:rPr>
              <a:t>An agent without bounds is a</a:t>
            </a:r>
          </a:p>
          <a:p>
            <a:pPr>
              <a:lnSpc>
                <a:spcPts val="20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1">
                <a:solidFill>
                  <a:srgbClr val="515C68"/>
                </a:solidFill>
                <a:latin typeface="Georgia"/>
              </a:rPr>
              <a:t>billing incident with a</a:t>
            </a:r>
          </a:p>
          <a:p>
            <a:pPr>
              <a:lnSpc>
                <a:spcPts val="20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1">
                <a:solidFill>
                  <a:srgbClr val="515C68"/>
                </a:solidFill>
                <a:latin typeface="Georgia"/>
              </a:rPr>
              <a:t>countdown on 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200150" y="552450"/>
            <a:ext cx="0" cy="571500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709612" y="595312"/>
            <a:ext cx="104775" cy="104775"/>
          </a:xfrm>
          <a:prstGeom prst="ellipse">
            <a:avLst/>
          </a:prstGeom>
          <a:solidFill>
            <a:srgbClr val="A26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0550" y="952500"/>
            <a:ext cx="342900" cy="4914900"/>
          </a:xfrm>
          <a:prstGeom prst="rect">
            <a:avLst/>
          </a:prstGeom>
          <a:noFill/>
        </p:spPr>
        <p:txBody>
          <a:bodyPr wrap="none" lIns="0" rIns="0" tIns="0" bIns="0" anchor="ctr" vert="vert270">
            <a:noAutofit/>
          </a:bodyPr>
          <a:lstStyle/>
          <a:p>
            <a:pPr algn="ctr"/>
            <a:r>
              <a:rPr sz="825" spc="157">
                <a:solidFill>
                  <a:srgbClr val="8B96A2"/>
                </a:solidFill>
                <a:latin typeface="Segoe UI Semibold"/>
              </a:rPr>
              <a:t>AI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6077331"/>
            <a:ext cx="5715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125"/>
              </a:lnSpc>
            </a:pPr>
            <a:r>
              <a:rPr sz="900" b="0" i="0">
                <a:solidFill>
                  <a:srgbClr val="8B96A2"/>
                </a:solidFill>
                <a:latin typeface="Consola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5450" y="518160"/>
            <a:ext cx="977265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 spc="169">
                <a:solidFill>
                  <a:srgbClr val="A2631A"/>
                </a:solidFill>
                <a:latin typeface="Segoe UI Semibold"/>
              </a:rPr>
              <a:t>DEMO · LESSON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5450" y="739597"/>
            <a:ext cx="9772650" cy="5076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547"/>
              </a:lnSpc>
              <a:spcBef>
                <a:spcPts val="0"/>
              </a:spcBef>
              <a:spcAft>
                <a:spcPts val="0"/>
              </a:spcAft>
            </a:pPr>
            <a:r>
              <a:rPr sz="3225" b="1" i="0">
                <a:solidFill>
                  <a:srgbClr val="121820"/>
                </a:solidFill>
                <a:latin typeface="Segoe UI"/>
              </a:rPr>
              <a:t>Watch the turns go past</a:t>
            </a:r>
          </a:p>
        </p:txBody>
      </p:sp>
      <p:sp>
        <p:nvSpPr>
          <p:cNvPr id="9" name="Rectangle 8"/>
          <p:cNvSpPr/>
          <p:nvPr/>
        </p:nvSpPr>
        <p:spPr>
          <a:xfrm>
            <a:off x="1695450" y="1526858"/>
            <a:ext cx="9772650" cy="1461135"/>
          </a:xfrm>
          <a:prstGeom prst="rect">
            <a:avLst/>
          </a:prstGeom>
          <a:solidFill>
            <a:srgbClr val="F5F7F9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4050" y="1679553"/>
            <a:ext cx="9315450" cy="113728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8B96A2"/>
                </a:solidFill>
                <a:latin typeface="Consolas"/>
              </a:rPr>
              <a:t>user       </a:t>
            </a:r>
            <a:r>
              <a:rPr sz="1312" b="0" i="0">
                <a:solidFill>
                  <a:srgbClr val="121820"/>
                </a:solidFill>
                <a:latin typeface="Consolas"/>
              </a:rPr>
              <a:t>Should I take a jacket in Pune today?</a:t>
            </a:r>
          </a:p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A2631A"/>
                </a:solidFill>
                <a:latin typeface="Consolas"/>
              </a:rPr>
              <a:t>assistant  </a:t>
            </a:r>
            <a:r>
              <a:rPr sz="1312" b="0" i="0">
                <a:solidFill>
                  <a:srgbClr val="121820"/>
                </a:solidFill>
                <a:latin typeface="Consolas"/>
              </a:rPr>
              <a:t>[tool_use] get_weather(location=</a:t>
            </a:r>
            <a:r>
              <a:rPr sz="1312" b="0" i="0">
                <a:solidFill>
                  <a:srgbClr val="A2631A"/>
                </a:solidFill>
                <a:latin typeface="Consolas"/>
              </a:rPr>
              <a:t>"Pune, MH"</a:t>
            </a:r>
            <a:r>
              <a:rPr sz="1312" b="0" i="0">
                <a:solidFill>
                  <a:srgbClr val="121820"/>
                </a:solidFill>
                <a:latin typeface="Consolas"/>
              </a:rPr>
              <a:t>)</a:t>
            </a:r>
          </a:p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8B96A2"/>
                </a:solidFill>
                <a:latin typeface="Consolas"/>
              </a:rPr>
              <a:t>user       </a:t>
            </a:r>
            <a:r>
              <a:rPr sz="1312" b="0" i="0">
                <a:solidFill>
                  <a:srgbClr val="121820"/>
                </a:solidFill>
                <a:latin typeface="Consolas"/>
              </a:rPr>
              <a:t>[tool_result] 22 degrees celsius and clear</a:t>
            </a:r>
          </a:p>
          <a:p>
            <a:pPr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312" b="0" i="0">
                <a:solidFill>
                  <a:srgbClr val="A2631A"/>
                </a:solidFill>
                <a:latin typeface="Consolas"/>
              </a:rPr>
              <a:t>assistant  </a:t>
            </a:r>
            <a:r>
              <a:rPr sz="1312" b="0" i="0">
                <a:solidFill>
                  <a:srgbClr val="121820"/>
                </a:solidFill>
                <a:latin typeface="Consolas"/>
              </a:rPr>
              <a:t>No jacket needed — it's 22C and clear.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5450" y="3108998"/>
            <a:ext cx="8599932" cy="6362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279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15C68"/>
                </a:solidFill>
                <a:latin typeface="Georgia"/>
              </a:rPr>
              <a:t>Four turns, two API calls, one function executed by your code. The middle two lines are the entire</a:t>
            </a:r>
          </a:p>
          <a:p>
            <a:pPr>
              <a:lnSpc>
                <a:spcPts val="2279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15C68"/>
                </a:solidFill>
                <a:latin typeface="Georgia"/>
              </a:rPr>
              <a:t>difference between a chatbot and an agent.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695450" y="5505450"/>
            <a:ext cx="9772650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695450" y="5648706"/>
            <a:ext cx="977265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15C68"/>
                </a:solidFill>
                <a:latin typeface="Georgia"/>
              </a:rPr>
              <a:t>Note the roles: </a:t>
            </a:r>
            <a:r>
              <a:rPr sz="1500" b="1" i="0">
                <a:solidFill>
                  <a:srgbClr val="121820"/>
                </a:solidFill>
                <a:latin typeface="Georgia"/>
              </a:rPr>
              <a:t>tool results come back as a </a:t>
            </a:r>
            <a:r>
              <a:rPr sz="1275" b="0" i="0">
                <a:solidFill>
                  <a:srgbClr val="121820"/>
                </a:solidFill>
                <a:latin typeface="Consolas"/>
              </a:rPr>
              <a:t>user</a:t>
            </a:r>
            <a:r>
              <a:rPr sz="1500" b="1" i="0">
                <a:solidFill>
                  <a:srgbClr val="121820"/>
                </a:solidFill>
                <a:latin typeface="Georgia"/>
              </a:rPr>
              <a:t> message.</a:t>
            </a:r>
            <a:r>
              <a:rPr sz="1500" b="0" i="0">
                <a:solidFill>
                  <a:srgbClr val="515C68"/>
                </a:solidFill>
                <a:latin typeface="Georgia"/>
              </a:rPr>
              <a:t> From the model's side, your code is just another</a:t>
            </a:r>
          </a:p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15C68"/>
                </a:solidFill>
                <a:latin typeface="Georgia"/>
              </a:rPr>
              <a:t>participant in the conversation.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E2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50275"/>
            <a:ext cx="8572500" cy="2171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210">
                <a:solidFill>
                  <a:srgbClr val="C6D3D5"/>
                </a:solidFill>
                <a:latin typeface="Consolas"/>
              </a:rPr>
              <a:t>PART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26190"/>
            <a:ext cx="10363200" cy="8732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6426"/>
              </a:lnSpc>
              <a:spcBef>
                <a:spcPts val="0"/>
              </a:spcBef>
              <a:spcAft>
                <a:spcPts val="0"/>
              </a:spcAft>
            </a:pPr>
            <a:r>
              <a:rPr sz="6300" b="1" i="0">
                <a:solidFill>
                  <a:srgbClr val="FBFAF8"/>
                </a:solidFill>
                <a:latin typeface="Segoe UI"/>
              </a:rPr>
              <a:t>Agentic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39777"/>
            <a:ext cx="5915025" cy="7978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915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>
                <a:solidFill>
                  <a:srgbClr val="C6D3D5"/>
                </a:solidFill>
                <a:latin typeface="Georgia"/>
              </a:rPr>
              <a:t>Handing over the control flow — deliberately, and</a:t>
            </a:r>
          </a:p>
          <a:p>
            <a:pPr>
              <a:lnSpc>
                <a:spcPts val="2915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>
                <a:solidFill>
                  <a:srgbClr val="C6D3D5"/>
                </a:solidFill>
                <a:latin typeface="Georgia"/>
              </a:rPr>
              <a:t>less often than you'd think.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200150" y="552450"/>
            <a:ext cx="0" cy="571500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709612" y="595312"/>
            <a:ext cx="104775" cy="104775"/>
          </a:xfrm>
          <a:prstGeom prst="ellipse">
            <a:avLst/>
          </a:prstGeom>
          <a:solidFill>
            <a:srgbClr val="A9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0550" y="952500"/>
            <a:ext cx="342900" cy="4914900"/>
          </a:xfrm>
          <a:prstGeom prst="rect">
            <a:avLst/>
          </a:prstGeom>
          <a:noFill/>
        </p:spPr>
        <p:txBody>
          <a:bodyPr wrap="none" lIns="0" rIns="0" tIns="0" bIns="0" anchor="ctr" vert="vert270">
            <a:noAutofit/>
          </a:bodyPr>
          <a:lstStyle/>
          <a:p>
            <a:pPr algn="ctr"/>
            <a:r>
              <a:rPr sz="825" spc="157">
                <a:solidFill>
                  <a:srgbClr val="8B96A2"/>
                </a:solidFill>
                <a:latin typeface="Segoe UI Semibold"/>
              </a:rPr>
              <a:t>AGENTIC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6077331"/>
            <a:ext cx="5715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125"/>
              </a:lnSpc>
            </a:pPr>
            <a:r>
              <a:rPr sz="900" b="0" i="0">
                <a:solidFill>
                  <a:srgbClr val="8B96A2"/>
                </a:solidFill>
                <a:latin typeface="Consolas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5450" y="518160"/>
            <a:ext cx="977265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 spc="169">
                <a:solidFill>
                  <a:srgbClr val="A93A2C"/>
                </a:solidFill>
                <a:latin typeface="Segoe UI Semibold"/>
              </a:rPr>
              <a:t>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5450" y="739597"/>
            <a:ext cx="9772650" cy="5076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547"/>
              </a:lnSpc>
              <a:spcBef>
                <a:spcPts val="0"/>
              </a:spcBef>
              <a:spcAft>
                <a:spcPts val="0"/>
              </a:spcAft>
            </a:pPr>
            <a:r>
              <a:rPr sz="3225" b="1" i="0">
                <a:solidFill>
                  <a:srgbClr val="121820"/>
                </a:solidFill>
                <a:latin typeface="Segoe UI"/>
              </a:rPr>
              <a:t>It's an adjective, and it's a matter of degree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5450" y="1443464"/>
            <a:ext cx="8599932" cy="7520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1820"/>
                </a:solidFill>
                <a:latin typeface="Georgia"/>
              </a:rPr>
              <a:t>Agentic</a:t>
            </a:r>
            <a:r>
              <a:rPr sz="1800" b="0" i="0">
                <a:solidFill>
                  <a:srgbClr val="121820"/>
                </a:solidFill>
                <a:latin typeface="Georgia"/>
              </a:rPr>
              <a:t> describes how much of the control flow the model owns: which steps run,</a:t>
            </a:r>
          </a:p>
          <a:p>
            <a:pPr>
              <a:lnSpc>
                <a:spcPts val="273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21820"/>
                </a:solidFill>
                <a:latin typeface="Georgia"/>
              </a:rPr>
              <a:t>in what order, and when to stop.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95450" y="2374202"/>
            <a:ext cx="28575" cy="1076325"/>
          </a:xfrm>
          <a:prstGeom prst="rect">
            <a:avLst/>
          </a:prstGeom>
          <a:solidFill>
            <a:srgbClr val="A9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4050" y="2332292"/>
            <a:ext cx="6059043" cy="1057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>
                <a:solidFill>
                  <a:srgbClr val="121820"/>
                </a:solidFill>
                <a:latin typeface="Georgia"/>
              </a:rPr>
              <a:t>It is not a newer technology than AI agents, and it is not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>
                <a:solidFill>
                  <a:srgbClr val="121820"/>
                </a:solidFill>
                <a:latin typeface="Georgia"/>
              </a:rPr>
              <a:t>something you install. Same models, same tools — </a:t>
            </a:r>
          </a:p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>
                <a:solidFill>
                  <a:srgbClr val="A93A2C"/>
                </a:solidFill>
                <a:latin typeface="Georgia"/>
              </a:rPr>
              <a:t>different author of the arrows.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695450" y="5505450"/>
            <a:ext cx="9772650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695450" y="5648706"/>
            <a:ext cx="977265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15C68"/>
                </a:solidFill>
                <a:latin typeface="Georgia"/>
              </a:rPr>
              <a:t>Which is why "is this agentic?" is a bad question, and </a:t>
            </a:r>
            <a:r>
              <a:rPr sz="1500" b="1" i="0">
                <a:solidFill>
                  <a:srgbClr val="121820"/>
                </a:solidFill>
                <a:latin typeface="Georgia"/>
              </a:rPr>
              <a:t>"how much of my control flow did I hand over, and</a:t>
            </a:r>
          </a:p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1820"/>
                </a:solidFill>
                <a:latin typeface="Georgia"/>
              </a:rPr>
              <a:t>what did I get for it?"</a:t>
            </a:r>
            <a:r>
              <a:rPr sz="1500" b="0" i="0">
                <a:solidFill>
                  <a:srgbClr val="515C68"/>
                </a:solidFill>
                <a:latin typeface="Georgia"/>
              </a:rPr>
              <a:t> is a good one.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200150" y="552450"/>
            <a:ext cx="0" cy="571500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709612" y="595312"/>
            <a:ext cx="104775" cy="104775"/>
          </a:xfrm>
          <a:prstGeom prst="ellipse">
            <a:avLst/>
          </a:prstGeom>
          <a:solidFill>
            <a:srgbClr val="A9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0550" y="952500"/>
            <a:ext cx="342900" cy="4914900"/>
          </a:xfrm>
          <a:prstGeom prst="rect">
            <a:avLst/>
          </a:prstGeom>
          <a:noFill/>
        </p:spPr>
        <p:txBody>
          <a:bodyPr wrap="none" lIns="0" rIns="0" tIns="0" bIns="0" anchor="ctr" vert="vert270">
            <a:noAutofit/>
          </a:bodyPr>
          <a:lstStyle/>
          <a:p>
            <a:pPr algn="ctr"/>
            <a:r>
              <a:rPr sz="825" spc="157">
                <a:solidFill>
                  <a:srgbClr val="8B96A2"/>
                </a:solidFill>
                <a:latin typeface="Segoe UI Semibold"/>
              </a:rPr>
              <a:t>AGENTIC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6077331"/>
            <a:ext cx="5715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125"/>
              </a:lnSpc>
            </a:pPr>
            <a:r>
              <a:rPr sz="900" b="0" i="0">
                <a:solidFill>
                  <a:srgbClr val="8B96A2"/>
                </a:solidFill>
                <a:latin typeface="Consolas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5450" y="518160"/>
            <a:ext cx="977265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 spc="169">
                <a:solidFill>
                  <a:srgbClr val="A93A2C"/>
                </a:solidFill>
                <a:latin typeface="Segoe UI Semibold"/>
              </a:rPr>
              <a:t>THE REAL DISTINCTION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5450" y="739597"/>
            <a:ext cx="9772650" cy="5076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547"/>
              </a:lnSpc>
              <a:spcBef>
                <a:spcPts val="0"/>
              </a:spcBef>
              <a:spcAft>
                <a:spcPts val="0"/>
              </a:spcAft>
            </a:pPr>
            <a:r>
              <a:rPr sz="3225" b="1" i="0">
                <a:solidFill>
                  <a:srgbClr val="121820"/>
                </a:solidFill>
                <a:latin typeface="Segoe UI"/>
              </a:rPr>
              <a:t>Who wrote the arrows?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4050" y="1717738"/>
            <a:ext cx="36195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25"/>
              </a:lnSpc>
            </a:pPr>
            <a:r>
              <a:rPr sz="900" b="0" i="0" spc="90">
                <a:solidFill>
                  <a:srgbClr val="8B96A2"/>
                </a:solidFill>
                <a:latin typeface="Segoe UI"/>
              </a:rPr>
              <a:t>WORKFLOW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24050" y="2460308"/>
            <a:ext cx="1066800" cy="476250"/>
          </a:xfrm>
          <a:prstGeom prst="rect">
            <a:avLst/>
          </a:prstGeom>
          <a:solidFill>
            <a:srgbClr val="F5F7F9"/>
          </a:solidFill>
          <a:ln w="11429">
            <a:solidFill>
              <a:srgbClr val="8B96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4050" y="2460308"/>
            <a:ext cx="1066800" cy="476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12"/>
              </a:lnSpc>
            </a:pPr>
            <a:r>
              <a:rPr sz="1050" b="0" i="0">
                <a:solidFill>
                  <a:srgbClr val="121820"/>
                </a:solidFill>
                <a:latin typeface="Segoe UI Semibold"/>
              </a:rPr>
              <a:t>Extract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2460308"/>
            <a:ext cx="1066800" cy="476250"/>
          </a:xfrm>
          <a:prstGeom prst="rect">
            <a:avLst/>
          </a:prstGeom>
          <a:solidFill>
            <a:srgbClr val="F5F7F9"/>
          </a:solidFill>
          <a:ln w="11429">
            <a:solidFill>
              <a:srgbClr val="8B96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71850" y="2460308"/>
            <a:ext cx="1066800" cy="476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12"/>
              </a:lnSpc>
            </a:pPr>
            <a:r>
              <a:rPr sz="1050" b="0" i="0">
                <a:solidFill>
                  <a:srgbClr val="121820"/>
                </a:solidFill>
                <a:latin typeface="Segoe UI Semibold"/>
              </a:rPr>
              <a:t>Classify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19650" y="2460308"/>
            <a:ext cx="1066800" cy="476250"/>
          </a:xfrm>
          <a:prstGeom prst="rect">
            <a:avLst/>
          </a:prstGeom>
          <a:solidFill>
            <a:srgbClr val="F5F7F9"/>
          </a:solidFill>
          <a:ln w="11429">
            <a:solidFill>
              <a:srgbClr val="8B96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9650" y="2460308"/>
            <a:ext cx="1066800" cy="4762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12"/>
              </a:lnSpc>
            </a:pPr>
            <a:r>
              <a:rPr sz="1050" b="0" i="0">
                <a:solidFill>
                  <a:srgbClr val="121820"/>
                </a:solidFill>
                <a:latin typeface="Segoe UI Semibold"/>
              </a:rPr>
              <a:t>Draft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48000" y="2698432"/>
            <a:ext cx="247650" cy="0"/>
          </a:xfrm>
          <a:prstGeom prst="line">
            <a:avLst/>
          </a:prstGeom>
          <a:ln w="10477">
            <a:solidFill>
              <a:srgbClr val="8B96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495800" y="2698432"/>
            <a:ext cx="247650" cy="0"/>
          </a:xfrm>
          <a:prstGeom prst="line">
            <a:avLst/>
          </a:prstGeom>
          <a:ln w="10477">
            <a:solidFill>
              <a:srgbClr val="8B96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924050" y="3114723"/>
            <a:ext cx="3619500" cy="21907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78"/>
              </a:lnSpc>
            </a:pPr>
            <a:r>
              <a:rPr sz="862" b="0" i="0">
                <a:solidFill>
                  <a:srgbClr val="515C68"/>
                </a:solidFill>
                <a:latin typeface="Consolas"/>
              </a:rPr>
              <a:t>every box calls the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4050" y="3286173"/>
            <a:ext cx="3619500" cy="21907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78"/>
              </a:lnSpc>
            </a:pPr>
            <a:r>
              <a:rPr sz="862" b="0" i="0">
                <a:solidFill>
                  <a:srgbClr val="515C68"/>
                </a:solidFill>
                <a:latin typeface="Consolas"/>
              </a:rPr>
              <a:t>you wrote this order, at build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4050" y="3457623"/>
            <a:ext cx="3619500" cy="21907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78"/>
              </a:lnSpc>
            </a:pPr>
            <a:r>
              <a:rPr sz="862" b="0" i="0">
                <a:solidFill>
                  <a:srgbClr val="515C68"/>
                </a:solidFill>
                <a:latin typeface="Consolas"/>
              </a:rPr>
              <a:t>cost and path known in advance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600825" y="1736408"/>
            <a:ext cx="0" cy="2076450"/>
          </a:xfrm>
          <a:prstGeom prst="line">
            <a:avLst/>
          </a:prstGeom>
          <a:ln w="9525">
            <a:solidFill>
              <a:srgbClr val="D2D8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991350" y="1717738"/>
            <a:ext cx="36195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25"/>
              </a:lnSpc>
            </a:pPr>
            <a:r>
              <a:rPr sz="900" b="0" i="0" spc="90">
                <a:solidFill>
                  <a:srgbClr val="8B96A2"/>
                </a:solidFill>
                <a:latin typeface="Segoe UI"/>
              </a:rPr>
              <a:t>AGENT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4350" y="2422208"/>
            <a:ext cx="1333500" cy="552450"/>
          </a:xfrm>
          <a:prstGeom prst="rect">
            <a:avLst/>
          </a:prstGeom>
          <a:solidFill>
            <a:srgbClr val="F5F7F9"/>
          </a:solidFill>
          <a:ln w="15240">
            <a:solidFill>
              <a:srgbClr val="A9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4350" y="2422208"/>
            <a:ext cx="1333500" cy="5524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12"/>
              </a:lnSpc>
            </a:pPr>
            <a:r>
              <a:rPr sz="1050" b="0" i="0">
                <a:solidFill>
                  <a:srgbClr val="A93A2C"/>
                </a:solidFill>
                <a:latin typeface="Segoe UI Semibold"/>
              </a:rPr>
              <a:t>Model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124700" y="2698432"/>
            <a:ext cx="933450" cy="0"/>
          </a:xfrm>
          <a:prstGeom prst="line">
            <a:avLst/>
          </a:prstGeom>
          <a:ln w="10477">
            <a:solidFill>
              <a:srgbClr val="8B96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991350" y="2428923"/>
            <a:ext cx="3619500" cy="21907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78"/>
              </a:lnSpc>
            </a:pPr>
            <a:r>
              <a:rPr sz="862" b="0" i="0">
                <a:solidFill>
                  <a:srgbClr val="515C68"/>
                </a:solidFill>
                <a:latin typeface="Consolas"/>
              </a:rPr>
              <a:t>goal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77450" y="2003108"/>
            <a:ext cx="1123950" cy="361950"/>
          </a:xfrm>
          <a:prstGeom prst="rect">
            <a:avLst/>
          </a:prstGeom>
          <a:noFill/>
          <a:ln w="10477">
            <a:solidFill>
              <a:srgbClr val="D2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77450" y="2003108"/>
            <a:ext cx="1123950" cy="3619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078"/>
              </a:lnSpc>
            </a:pPr>
            <a:r>
              <a:rPr sz="862" b="0" i="0">
                <a:solidFill>
                  <a:srgbClr val="515C68"/>
                </a:solidFill>
                <a:latin typeface="Consolas"/>
              </a:rPr>
              <a:t>search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77450" y="2517458"/>
            <a:ext cx="1123950" cy="361950"/>
          </a:xfrm>
          <a:prstGeom prst="rect">
            <a:avLst/>
          </a:prstGeom>
          <a:noFill/>
          <a:ln w="10477">
            <a:solidFill>
              <a:srgbClr val="D2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77450" y="2517458"/>
            <a:ext cx="1123950" cy="3619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078"/>
              </a:lnSpc>
            </a:pPr>
            <a:r>
              <a:rPr sz="862" b="0" i="0">
                <a:solidFill>
                  <a:srgbClr val="515C68"/>
                </a:solidFill>
                <a:latin typeface="Consolas"/>
              </a:rPr>
              <a:t>read_file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77450" y="3031808"/>
            <a:ext cx="1123950" cy="361950"/>
          </a:xfrm>
          <a:prstGeom prst="rect">
            <a:avLst/>
          </a:prstGeom>
          <a:noFill/>
          <a:ln w="10477">
            <a:solidFill>
              <a:srgbClr val="D2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77450" y="3031808"/>
            <a:ext cx="1123950" cy="3619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078"/>
              </a:lnSpc>
            </a:pPr>
            <a:r>
              <a:rPr sz="862" b="0" i="0">
                <a:solidFill>
                  <a:srgbClr val="515C68"/>
                </a:solidFill>
                <a:latin typeface="Consolas"/>
              </a:rPr>
              <a:t>run_tests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9525000" y="2184082"/>
            <a:ext cx="495300" cy="400050"/>
          </a:xfrm>
          <a:prstGeom prst="line">
            <a:avLst/>
          </a:prstGeom>
          <a:ln w="11429">
            <a:solidFill>
              <a:srgbClr val="A93A2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525000" y="2698432"/>
            <a:ext cx="495300" cy="0"/>
          </a:xfrm>
          <a:prstGeom prst="line">
            <a:avLst/>
          </a:prstGeom>
          <a:ln w="11429">
            <a:solidFill>
              <a:srgbClr val="A93A2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525000" y="2812732"/>
            <a:ext cx="495300" cy="400050"/>
          </a:xfrm>
          <a:prstGeom prst="line">
            <a:avLst/>
          </a:prstGeom>
          <a:ln w="11429">
            <a:solidFill>
              <a:srgbClr val="A93A2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362950" y="3031808"/>
            <a:ext cx="0" cy="304800"/>
          </a:xfrm>
          <a:prstGeom prst="line">
            <a:avLst/>
          </a:prstGeom>
          <a:ln w="11429">
            <a:solidFill>
              <a:srgbClr val="A93A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362950" y="3336608"/>
            <a:ext cx="876300" cy="0"/>
          </a:xfrm>
          <a:prstGeom prst="line">
            <a:avLst/>
          </a:prstGeom>
          <a:ln w="11429">
            <a:solidFill>
              <a:srgbClr val="A93A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9239250" y="3031808"/>
            <a:ext cx="0" cy="304800"/>
          </a:xfrm>
          <a:prstGeom prst="line">
            <a:avLst/>
          </a:prstGeom>
          <a:ln w="11429">
            <a:solidFill>
              <a:srgbClr val="A93A2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991350" y="3457623"/>
            <a:ext cx="3619500" cy="21907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078"/>
              </a:lnSpc>
            </a:pPr>
            <a:r>
              <a:rPr sz="862" b="0" i="0">
                <a:solidFill>
                  <a:srgbClr val="A93A2C"/>
                </a:solidFill>
                <a:latin typeface="Consolas"/>
              </a:rPr>
              <a:t>chooses again, or stops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95450" y="3905593"/>
            <a:ext cx="8209026" cy="55435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15C68"/>
                </a:solidFill>
                <a:latin typeface="Georgia"/>
              </a:rPr>
              <a:t>Same model, same tools on both sides. The difference is whether the sequence was written by you at build</a:t>
            </a:r>
          </a:p>
          <a:p>
            <a:pPr>
              <a:lnSpc>
                <a:spcPts val="1957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15C68"/>
                </a:solidFill>
                <a:latin typeface="Georgia"/>
              </a:rPr>
              <a:t>time or chosen by the model at run time.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200150" y="552450"/>
            <a:ext cx="0" cy="571500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709612" y="595312"/>
            <a:ext cx="104775" cy="104775"/>
          </a:xfrm>
          <a:prstGeom prst="ellipse">
            <a:avLst/>
          </a:prstGeom>
          <a:solidFill>
            <a:srgbClr val="A9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0550" y="952500"/>
            <a:ext cx="342900" cy="4914900"/>
          </a:xfrm>
          <a:prstGeom prst="rect">
            <a:avLst/>
          </a:prstGeom>
          <a:noFill/>
        </p:spPr>
        <p:txBody>
          <a:bodyPr wrap="none" lIns="0" rIns="0" tIns="0" bIns="0" anchor="ctr" vert="vert270">
            <a:noAutofit/>
          </a:bodyPr>
          <a:lstStyle/>
          <a:p>
            <a:pPr algn="ctr"/>
            <a:r>
              <a:rPr sz="825" spc="157">
                <a:solidFill>
                  <a:srgbClr val="8B96A2"/>
                </a:solidFill>
                <a:latin typeface="Segoe UI Semibold"/>
              </a:rPr>
              <a:t>AGENTIC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6077331"/>
            <a:ext cx="5715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125"/>
              </a:lnSpc>
            </a:pPr>
            <a:r>
              <a:rPr sz="900" b="0" i="0">
                <a:solidFill>
                  <a:srgbClr val="8B96A2"/>
                </a:solidFill>
                <a:latin typeface="Consolas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5450" y="518160"/>
            <a:ext cx="977265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 spc="169">
                <a:solidFill>
                  <a:srgbClr val="A93A2C"/>
                </a:solidFill>
                <a:latin typeface="Segoe UI Semibold"/>
              </a:rPr>
              <a:t>CALIBRATION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5450" y="739597"/>
            <a:ext cx="9772650" cy="5076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547"/>
              </a:lnSpc>
              <a:spcBef>
                <a:spcPts val="0"/>
              </a:spcBef>
              <a:spcAft>
                <a:spcPts val="0"/>
              </a:spcAft>
            </a:pPr>
            <a:r>
              <a:rPr sz="3225" b="1" i="0">
                <a:solidFill>
                  <a:srgbClr val="121820"/>
                </a:solidFill>
                <a:latin typeface="Segoe UI"/>
              </a:rPr>
              <a:t>How agentic is it, really?</a:t>
            </a:r>
          </a:p>
        </p:txBody>
      </p:sp>
      <p:sp>
        <p:nvSpPr>
          <p:cNvPr id="9" name="Rectangle 8"/>
          <p:cNvSpPr/>
          <p:nvPr/>
        </p:nvSpPr>
        <p:spPr>
          <a:xfrm>
            <a:off x="1695450" y="1656778"/>
            <a:ext cx="85725" cy="19050"/>
          </a:xfrm>
          <a:prstGeom prst="rect">
            <a:avLst/>
          </a:prstGeom>
          <a:solidFill>
            <a:srgbClr val="A9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43100" y="1455443"/>
            <a:ext cx="9525000" cy="6522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21820"/>
                </a:solidFill>
                <a:latin typeface="Georgia"/>
              </a:rPr>
              <a:t>Summarise every incoming ticket.</a:t>
            </a:r>
            <a:r>
              <a:rPr sz="1650" b="0" i="0">
                <a:solidFill>
                  <a:srgbClr val="515C68"/>
                </a:solidFill>
                <a:latin typeface="Georgia"/>
              </a:rPr>
              <a:t> Fixed pipeline. Not agentic — the model fills a slot you</a:t>
            </a:r>
          </a:p>
          <a:p>
            <a:pPr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515C68"/>
                </a:solidFill>
                <a:latin typeface="Georgia"/>
              </a:rPr>
              <a:t>defined.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95450" y="2385250"/>
            <a:ext cx="85725" cy="19050"/>
          </a:xfrm>
          <a:prstGeom prst="rect">
            <a:avLst/>
          </a:prstGeom>
          <a:solidFill>
            <a:srgbClr val="A9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43100" y="2183915"/>
            <a:ext cx="9525000" cy="3547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21820"/>
                </a:solidFill>
                <a:latin typeface="Georgia"/>
              </a:rPr>
              <a:t>Route a ticket to one of three teams.</a:t>
            </a:r>
            <a:r>
              <a:rPr sz="1650" b="0" i="0">
                <a:solidFill>
                  <a:srgbClr val="515C68"/>
                </a:solidFill>
                <a:latin typeface="Georgia"/>
              </a:rPr>
              <a:t> Barely. One decision, from a menu you wrote.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95450" y="2816162"/>
            <a:ext cx="85725" cy="19050"/>
          </a:xfrm>
          <a:prstGeom prst="rect">
            <a:avLst/>
          </a:prstGeom>
          <a:solidFill>
            <a:srgbClr val="A9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43100" y="2614826"/>
            <a:ext cx="9525000" cy="6522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21820"/>
                </a:solidFill>
                <a:latin typeface="Georgia"/>
              </a:rPr>
              <a:t>Standard RAG: retrieve, then answer.</a:t>
            </a:r>
            <a:r>
              <a:rPr sz="1650" b="0" i="0">
                <a:solidFill>
                  <a:srgbClr val="515C68"/>
                </a:solidFill>
                <a:latin typeface="Georgia"/>
              </a:rPr>
              <a:t> Not agentic. The order is fixed; retrieval always happens</a:t>
            </a:r>
          </a:p>
          <a:p>
            <a:pPr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515C68"/>
                </a:solidFill>
                <a:latin typeface="Georgia"/>
              </a:rPr>
              <a:t>exactly once.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95450" y="3544634"/>
            <a:ext cx="85725" cy="19050"/>
          </a:xfrm>
          <a:prstGeom prst="rect">
            <a:avLst/>
          </a:prstGeom>
          <a:solidFill>
            <a:srgbClr val="A9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43100" y="3343298"/>
            <a:ext cx="9525000" cy="6522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21820"/>
                </a:solidFill>
                <a:latin typeface="Georgia"/>
              </a:rPr>
              <a:t>Agentic RAG: model decides whether and what to search, and how often.</a:t>
            </a:r>
            <a:r>
              <a:rPr sz="1650" b="0" i="0">
                <a:solidFill>
                  <a:srgbClr val="515C68"/>
                </a:solidFill>
                <a:latin typeface="Georgia"/>
              </a:rPr>
              <a:t> Yes — the</a:t>
            </a:r>
          </a:p>
          <a:p>
            <a:pPr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515C68"/>
                </a:solidFill>
                <a:latin typeface="Georgia"/>
              </a:rPr>
              <a:t>retrieval decision moved to run time.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95450" y="4273106"/>
            <a:ext cx="85725" cy="19050"/>
          </a:xfrm>
          <a:prstGeom prst="rect">
            <a:avLst/>
          </a:prstGeom>
          <a:solidFill>
            <a:srgbClr val="A9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43100" y="4071770"/>
            <a:ext cx="9525000" cy="6522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21820"/>
                </a:solidFill>
                <a:latin typeface="Georgia"/>
              </a:rPr>
              <a:t>Coding agent: plans, edits, runs tests, reads failures, re-plans.</a:t>
            </a:r>
            <a:r>
              <a:rPr sz="1650" b="0" i="0">
                <a:solidFill>
                  <a:srgbClr val="515C68"/>
                </a:solidFill>
                <a:latin typeface="Georgia"/>
              </a:rPr>
              <a:t> Strongly agentic. Nobody</a:t>
            </a:r>
          </a:p>
          <a:p>
            <a:pPr>
              <a:lnSpc>
                <a:spcPts val="2343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515C68"/>
                </a:solidFill>
                <a:latin typeface="Georgia"/>
              </a:rPr>
              <a:t>wrote that sequence.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695450" y="5505450"/>
            <a:ext cx="9772650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695450" y="5648706"/>
            <a:ext cx="977265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15C68"/>
                </a:solidFill>
                <a:latin typeface="Georgia"/>
              </a:rPr>
              <a:t>Notice that the last two use </a:t>
            </a:r>
            <a:r>
              <a:rPr sz="1500" b="1" i="0">
                <a:solidFill>
                  <a:srgbClr val="121820"/>
                </a:solidFill>
                <a:latin typeface="Georgia"/>
              </a:rPr>
              <a:t>exactly the same tools</a:t>
            </a:r>
            <a:r>
              <a:rPr sz="1500" b="0" i="0">
                <a:solidFill>
                  <a:srgbClr val="515C68"/>
                </a:solidFill>
                <a:latin typeface="Georgia"/>
              </a:rPr>
              <a:t> as the versions above them. What moved was the decision,</a:t>
            </a:r>
          </a:p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15C68"/>
                </a:solidFill>
                <a:latin typeface="Georgia"/>
              </a:rPr>
              <a:t>not the capability.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200150" y="552450"/>
            <a:ext cx="0" cy="571500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709612" y="595312"/>
            <a:ext cx="104775" cy="104775"/>
          </a:xfrm>
          <a:prstGeom prst="ellipse">
            <a:avLst/>
          </a:prstGeom>
          <a:solidFill>
            <a:srgbClr val="A9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0550" y="952500"/>
            <a:ext cx="342900" cy="4914900"/>
          </a:xfrm>
          <a:prstGeom prst="rect">
            <a:avLst/>
          </a:prstGeom>
          <a:noFill/>
        </p:spPr>
        <p:txBody>
          <a:bodyPr wrap="none" lIns="0" rIns="0" tIns="0" bIns="0" anchor="ctr" vert="vert270">
            <a:noAutofit/>
          </a:bodyPr>
          <a:lstStyle/>
          <a:p>
            <a:pPr algn="ctr"/>
            <a:r>
              <a:rPr sz="825" spc="157">
                <a:solidFill>
                  <a:srgbClr val="8B96A2"/>
                </a:solidFill>
                <a:latin typeface="Segoe UI Semibold"/>
              </a:rPr>
              <a:t>AGENTIC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6077331"/>
            <a:ext cx="5715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125"/>
              </a:lnSpc>
            </a:pPr>
            <a:r>
              <a:rPr sz="900" b="0" i="0">
                <a:solidFill>
                  <a:srgbClr val="8B96A2"/>
                </a:solidFill>
                <a:latin typeface="Consolas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5450" y="518160"/>
            <a:ext cx="977265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 spc="169">
                <a:solidFill>
                  <a:srgbClr val="A93A2C"/>
                </a:solidFill>
                <a:latin typeface="Segoe UI Semibold"/>
              </a:rPr>
              <a:t>BEFORE YOU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5450" y="739597"/>
            <a:ext cx="9772650" cy="5076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547"/>
              </a:lnSpc>
              <a:spcBef>
                <a:spcPts val="0"/>
              </a:spcBef>
              <a:spcAft>
                <a:spcPts val="0"/>
              </a:spcAft>
            </a:pPr>
            <a:r>
              <a:rPr sz="3225" b="1" i="0">
                <a:solidFill>
                  <a:srgbClr val="121820"/>
                </a:solidFill>
                <a:latin typeface="Segoe UI"/>
              </a:rPr>
              <a:t>Four questions. One "no" is enough.</a:t>
            </a:r>
          </a:p>
        </p:txBody>
      </p:sp>
      <p:sp>
        <p:nvSpPr>
          <p:cNvPr id="9" name="Rectangle 8"/>
          <p:cNvSpPr/>
          <p:nvPr/>
        </p:nvSpPr>
        <p:spPr>
          <a:xfrm>
            <a:off x="1695450" y="1526858"/>
            <a:ext cx="323850" cy="19050"/>
          </a:xfrm>
          <a:prstGeom prst="rect">
            <a:avLst/>
          </a:prstGeom>
          <a:solidFill>
            <a:srgbClr val="A9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95450" y="1552385"/>
            <a:ext cx="323850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A93A2C"/>
                </a:solidFill>
                <a:latin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71700" y="1472565"/>
            <a:ext cx="9296400" cy="2833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>
                <a:solidFill>
                  <a:srgbClr val="121820"/>
                </a:solidFill>
                <a:latin typeface="Segoe UI"/>
              </a:rPr>
              <a:t>Complexity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71700" y="1716729"/>
            <a:ext cx="5524500" cy="5981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15C68"/>
                </a:solidFill>
                <a:latin typeface="Georgia"/>
              </a:rPr>
              <a:t>Is the task genuinely hard to specify in advance? If you can</a:t>
            </a:r>
          </a:p>
          <a:p>
            <a:pPr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15C68"/>
                </a:solidFill>
                <a:latin typeface="Georgia"/>
              </a:rPr>
              <a:t>draw the flowchart, draw the flowchart.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95450" y="2465546"/>
            <a:ext cx="323850" cy="19050"/>
          </a:xfrm>
          <a:prstGeom prst="rect">
            <a:avLst/>
          </a:prstGeom>
          <a:solidFill>
            <a:srgbClr val="A9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95450" y="2491073"/>
            <a:ext cx="323850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A93A2C"/>
                </a:solidFill>
                <a:latin typeface="Consola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71700" y="2411254"/>
            <a:ext cx="9296400" cy="2833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>
                <a:solidFill>
                  <a:srgbClr val="121820"/>
                </a:solidFill>
                <a:latin typeface="Segoe UI"/>
              </a:rPr>
              <a:t>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71700" y="2655418"/>
            <a:ext cx="5524500" cy="5981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15C68"/>
                </a:solidFill>
                <a:latin typeface="Georgia"/>
              </a:rPr>
              <a:t>Does the result justify the latency and the token bill? An agent</a:t>
            </a:r>
          </a:p>
          <a:p>
            <a:pPr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15C68"/>
                </a:solidFill>
                <a:latin typeface="Georgia"/>
              </a:rPr>
              <a:t>costs several times a single call.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95450" y="3404235"/>
            <a:ext cx="323850" cy="19050"/>
          </a:xfrm>
          <a:prstGeom prst="rect">
            <a:avLst/>
          </a:prstGeom>
          <a:solidFill>
            <a:srgbClr val="A9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95450" y="3429762"/>
            <a:ext cx="323850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A93A2C"/>
                </a:solidFill>
                <a:latin typeface="Consola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71700" y="3349943"/>
            <a:ext cx="9296400" cy="2833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>
                <a:solidFill>
                  <a:srgbClr val="121820"/>
                </a:solidFill>
                <a:latin typeface="Segoe UI"/>
              </a:rPr>
              <a:t>Viability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71700" y="3594106"/>
            <a:ext cx="5524500" cy="5981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15C68"/>
                </a:solidFill>
                <a:latin typeface="Georgia"/>
              </a:rPr>
              <a:t>Is the model actually good at this task? Autonomy multiplies</a:t>
            </a:r>
          </a:p>
          <a:p>
            <a:pPr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15C68"/>
                </a:solidFill>
                <a:latin typeface="Georgia"/>
              </a:rPr>
              <a:t>whatever quality you started with — in both directions.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95450" y="4342924"/>
            <a:ext cx="323850" cy="19050"/>
          </a:xfrm>
          <a:prstGeom prst="rect">
            <a:avLst/>
          </a:prstGeom>
          <a:solidFill>
            <a:srgbClr val="A9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95450" y="4368451"/>
            <a:ext cx="323850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35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A93A2C"/>
                </a:solidFill>
                <a:latin typeface="Consola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71700" y="4288631"/>
            <a:ext cx="9296400" cy="2833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>
                <a:solidFill>
                  <a:srgbClr val="121820"/>
                </a:solidFill>
                <a:latin typeface="Segoe UI"/>
              </a:rPr>
              <a:t>Cost of error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71700" y="4532795"/>
            <a:ext cx="5524500" cy="5981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15C68"/>
                </a:solidFill>
                <a:latin typeface="Georgia"/>
              </a:rPr>
              <a:t>Can a mistake be caught and undone? Irreversible actions need</a:t>
            </a:r>
          </a:p>
          <a:p>
            <a:pPr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15C68"/>
                </a:solidFill>
                <a:latin typeface="Georgia"/>
              </a:rPr>
              <a:t>a human in the loop, not more autonomy.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695450" y="5505450"/>
            <a:ext cx="9772650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695450" y="5648706"/>
            <a:ext cx="977265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1820"/>
                </a:solidFill>
                <a:latin typeface="Georgia"/>
              </a:rPr>
              <a:t>Most production "agents" should have been workflows.</a:t>
            </a:r>
            <a:r>
              <a:rPr sz="1500" b="0" i="0">
                <a:solidFill>
                  <a:srgbClr val="515C68"/>
                </a:solidFill>
                <a:latin typeface="Georgia"/>
              </a:rPr>
              <a:t> The workflow is cheaper, testable, and it fails in</a:t>
            </a:r>
          </a:p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15C68"/>
                </a:solidFill>
                <a:latin typeface="Georgia"/>
              </a:rPr>
              <a:t>ways you can reproduce on a Tuesday afternoon.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200150" y="552450"/>
            <a:ext cx="0" cy="571500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709612" y="595312"/>
            <a:ext cx="104775" cy="104775"/>
          </a:xfrm>
          <a:prstGeom prst="ellipse">
            <a:avLst/>
          </a:prstGeom>
          <a:solidFill>
            <a:srgbClr val="A9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0550" y="952500"/>
            <a:ext cx="342900" cy="4914900"/>
          </a:xfrm>
          <a:prstGeom prst="rect">
            <a:avLst/>
          </a:prstGeom>
          <a:noFill/>
        </p:spPr>
        <p:txBody>
          <a:bodyPr wrap="none" lIns="0" rIns="0" tIns="0" bIns="0" anchor="ctr" vert="vert270">
            <a:noAutofit/>
          </a:bodyPr>
          <a:lstStyle/>
          <a:p>
            <a:pPr algn="ctr"/>
            <a:r>
              <a:rPr sz="825" spc="157">
                <a:solidFill>
                  <a:srgbClr val="8B96A2"/>
                </a:solidFill>
                <a:latin typeface="Segoe UI Semibold"/>
              </a:rPr>
              <a:t>CORRECTIONS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6077331"/>
            <a:ext cx="5715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125"/>
              </a:lnSpc>
            </a:pPr>
            <a:r>
              <a:rPr sz="900" b="0" i="0">
                <a:solidFill>
                  <a:srgbClr val="8B96A2"/>
                </a:solidFill>
                <a:latin typeface="Consolas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5450" y="518160"/>
            <a:ext cx="977265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 spc="169">
                <a:solidFill>
                  <a:srgbClr val="A93A2C"/>
                </a:solidFill>
                <a:latin typeface="Segoe UI Semibold"/>
              </a:rPr>
              <a:t>CORRECTIONS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5450" y="739597"/>
            <a:ext cx="9772650" cy="5076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547"/>
              </a:lnSpc>
              <a:spcBef>
                <a:spcPts val="0"/>
              </a:spcBef>
              <a:spcAft>
                <a:spcPts val="0"/>
              </a:spcAft>
            </a:pPr>
            <a:r>
              <a:rPr sz="3225" b="1" i="0">
                <a:solidFill>
                  <a:srgbClr val="121820"/>
                </a:solidFill>
                <a:latin typeface="Segoe UI"/>
              </a:rPr>
              <a:t>Six claims to push back 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695450" y="1646872"/>
            <a:ext cx="85725" cy="19050"/>
          </a:xfrm>
          <a:prstGeom prst="rect">
            <a:avLst/>
          </a:prstGeom>
          <a:solidFill>
            <a:srgbClr val="A9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43100" y="1462529"/>
            <a:ext cx="9525000" cy="32518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1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21820"/>
                </a:solidFill>
                <a:latin typeface="Georgia"/>
              </a:rPr>
              <a:t>"Agentic AI is the next generation after AI agents."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43100" y="1747746"/>
            <a:ext cx="9525000" cy="293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59"/>
              </a:lnSpc>
              <a:spcBef>
                <a:spcPts val="0"/>
              </a:spcBef>
              <a:spcAft>
                <a:spcPts val="0"/>
              </a:spcAft>
            </a:pPr>
            <a:r>
              <a:rPr sz="1387" b="0" i="0">
                <a:solidFill>
                  <a:srgbClr val="515C68"/>
                </a:solidFill>
                <a:latin typeface="Georgia"/>
              </a:rPr>
              <a:t>No. It's a property of a system, not a successor product. They aren't on a timeline together.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95450" y="2284381"/>
            <a:ext cx="85725" cy="19050"/>
          </a:xfrm>
          <a:prstGeom prst="rect">
            <a:avLst/>
          </a:prstGeom>
          <a:solidFill>
            <a:srgbClr val="A9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43100" y="2100038"/>
            <a:ext cx="9525000" cy="32518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1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21820"/>
                </a:solidFill>
                <a:latin typeface="Georgia"/>
              </a:rPr>
              <a:t>"The agent executes the action."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43100" y="2385254"/>
            <a:ext cx="9525000" cy="293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59"/>
              </a:lnSpc>
              <a:spcBef>
                <a:spcPts val="0"/>
              </a:spcBef>
              <a:spcAft>
                <a:spcPts val="0"/>
              </a:spcAft>
            </a:pPr>
            <a:r>
              <a:rPr sz="1387" b="0" i="0">
                <a:solidFill>
                  <a:srgbClr val="515C68"/>
                </a:solidFill>
                <a:latin typeface="Georgia"/>
              </a:rPr>
              <a:t>No. It emits a request. Your code executes — which is exactly where your security boundary sits.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95450" y="2921889"/>
            <a:ext cx="85725" cy="19050"/>
          </a:xfrm>
          <a:prstGeom prst="rect">
            <a:avLst/>
          </a:prstGeom>
          <a:solidFill>
            <a:srgbClr val="A9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43100" y="2737546"/>
            <a:ext cx="9525000" cy="32518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1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21820"/>
                </a:solidFill>
                <a:latin typeface="Georgia"/>
              </a:rPr>
              <a:t>"Agentic means it thinks, wants, has goals."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43100" y="3022763"/>
            <a:ext cx="9525000" cy="293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59"/>
              </a:lnSpc>
              <a:spcBef>
                <a:spcPts val="0"/>
              </a:spcBef>
              <a:spcAft>
                <a:spcPts val="0"/>
              </a:spcAft>
            </a:pPr>
            <a:r>
              <a:rPr sz="1387" b="0" i="0">
                <a:solidFill>
                  <a:srgbClr val="515C68"/>
                </a:solidFill>
                <a:latin typeface="Georgia"/>
              </a:rPr>
              <a:t>No. The goal is text in a prompt and structure in your loop. Nothing persists between calls.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95450" y="3559397"/>
            <a:ext cx="85725" cy="19050"/>
          </a:xfrm>
          <a:prstGeom prst="rect">
            <a:avLst/>
          </a:prstGeom>
          <a:solidFill>
            <a:srgbClr val="A9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43100" y="3375054"/>
            <a:ext cx="9525000" cy="32518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1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21820"/>
                </a:solidFill>
                <a:latin typeface="Georgia"/>
              </a:rPr>
              <a:t>"More autonomy is better."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43100" y="3660271"/>
            <a:ext cx="9525000" cy="293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59"/>
              </a:lnSpc>
              <a:spcBef>
                <a:spcPts val="0"/>
              </a:spcBef>
              <a:spcAft>
                <a:spcPts val="0"/>
              </a:spcAft>
            </a:pPr>
            <a:r>
              <a:rPr sz="1387" b="0" i="0">
                <a:solidFill>
                  <a:srgbClr val="515C68"/>
                </a:solidFill>
                <a:latin typeface="Georgia"/>
              </a:rPr>
              <a:t>No. Autonomy is a price you pay when a task can’t be specified — not a feature you upgrade to.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95450" y="4196906"/>
            <a:ext cx="85725" cy="19050"/>
          </a:xfrm>
          <a:prstGeom prst="rect">
            <a:avLst/>
          </a:prstGeom>
          <a:solidFill>
            <a:srgbClr val="A9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43100" y="4012562"/>
            <a:ext cx="9525000" cy="32518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1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21820"/>
                </a:solidFill>
                <a:latin typeface="Georgia"/>
              </a:rPr>
              <a:t>"I wrote a clever prompt, so I built an agent."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43100" y="4297779"/>
            <a:ext cx="9525000" cy="293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59"/>
              </a:lnSpc>
              <a:spcBef>
                <a:spcPts val="0"/>
              </a:spcBef>
              <a:spcAft>
                <a:spcPts val="0"/>
              </a:spcAft>
            </a:pPr>
            <a:r>
              <a:rPr sz="1387" b="0" i="0">
                <a:solidFill>
                  <a:srgbClr val="515C68"/>
                </a:solidFill>
                <a:latin typeface="Georgia"/>
              </a:rPr>
              <a:t>No tools and no loop means no agent. A named persona is still a single API call.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95450" y="4834414"/>
            <a:ext cx="85725" cy="19050"/>
          </a:xfrm>
          <a:prstGeom prst="rect">
            <a:avLst/>
          </a:prstGeom>
          <a:solidFill>
            <a:srgbClr val="A9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43100" y="4650071"/>
            <a:ext cx="9525000" cy="32518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1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21820"/>
                </a:solidFill>
                <a:latin typeface="Georgia"/>
              </a:rPr>
              <a:t>"RAG is agentic."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43100" y="4935287"/>
            <a:ext cx="9525000" cy="2932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59"/>
              </a:lnSpc>
              <a:spcBef>
                <a:spcPts val="0"/>
              </a:spcBef>
              <a:spcAft>
                <a:spcPts val="0"/>
              </a:spcAft>
            </a:pPr>
            <a:r>
              <a:rPr sz="1387" b="0" i="0">
                <a:solidFill>
                  <a:srgbClr val="515C68"/>
                </a:solidFill>
                <a:latin typeface="Georgia"/>
              </a:rPr>
              <a:t>Only if the model decides the retrieval. Fixed retrieve-then-answer is a pipeline.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200150" y="552450"/>
            <a:ext cx="0" cy="571500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709612" y="595312"/>
            <a:ext cx="104775" cy="104775"/>
          </a:xfrm>
          <a:prstGeom prst="ellipse">
            <a:avLst/>
          </a:prstGeom>
          <a:solidFill>
            <a:srgbClr val="A9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0550" y="952500"/>
            <a:ext cx="342900" cy="4914900"/>
          </a:xfrm>
          <a:prstGeom prst="rect">
            <a:avLst/>
          </a:prstGeom>
          <a:noFill/>
        </p:spPr>
        <p:txBody>
          <a:bodyPr wrap="none" lIns="0" rIns="0" tIns="0" bIns="0" anchor="ctr" vert="vert270">
            <a:noAutofit/>
          </a:bodyPr>
          <a:lstStyle/>
          <a:p>
            <a:pPr algn="ctr"/>
            <a:r>
              <a:rPr sz="825" spc="157">
                <a:solidFill>
                  <a:srgbClr val="8B96A2"/>
                </a:solidFill>
                <a:latin typeface="Segoe UI Semibold"/>
              </a:rPr>
              <a:t>CORRECTIONS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6077331"/>
            <a:ext cx="5715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125"/>
              </a:lnSpc>
            </a:pPr>
            <a:r>
              <a:rPr sz="900" b="0" i="0">
                <a:solidFill>
                  <a:srgbClr val="8B96A2"/>
                </a:solidFill>
                <a:latin typeface="Consolas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5450" y="518160"/>
            <a:ext cx="977265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 spc="169">
                <a:solidFill>
                  <a:srgbClr val="A93A2C"/>
                </a:solidFill>
                <a:latin typeface="Segoe UI Semibold"/>
              </a:rPr>
              <a:t>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5450" y="739597"/>
            <a:ext cx="9772650" cy="5076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547"/>
              </a:lnSpc>
              <a:spcBef>
                <a:spcPts val="0"/>
              </a:spcBef>
              <a:spcAft>
                <a:spcPts val="0"/>
              </a:spcAft>
            </a:pPr>
            <a:r>
              <a:rPr sz="3225" b="1" i="0">
                <a:solidFill>
                  <a:srgbClr val="121820"/>
                </a:solidFill>
                <a:latin typeface="Segoe UI"/>
              </a:rPr>
              <a:t>The three, side by side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38500" y="1492568"/>
            <a:ext cx="259715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 spc="122">
                <a:solidFill>
                  <a:srgbClr val="0C7A84"/>
                </a:solidFill>
                <a:latin typeface="Segoe UI Semibold"/>
              </a:rPr>
              <a:t>GENERATIVE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26150" y="1492568"/>
            <a:ext cx="259715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 spc="122">
                <a:solidFill>
                  <a:srgbClr val="A2631A"/>
                </a:solidFill>
                <a:latin typeface="Segoe UI Semibold"/>
              </a:rPr>
              <a:t>AI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13800" y="1492568"/>
            <a:ext cx="259715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 spc="122">
                <a:solidFill>
                  <a:srgbClr val="A93A2C"/>
                </a:solidFill>
                <a:latin typeface="Segoe UI Semibold"/>
              </a:rPr>
              <a:t>AGENTIC SYSTEM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695450" y="1755458"/>
            <a:ext cx="9772650" cy="0"/>
          </a:xfrm>
          <a:prstGeom prst="line">
            <a:avLst/>
          </a:prstGeom>
          <a:ln w="15240">
            <a:solidFill>
              <a:srgbClr val="D2D8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695450" y="1840649"/>
            <a:ext cx="1333500" cy="2181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spc="39">
                <a:solidFill>
                  <a:srgbClr val="8B96A2"/>
                </a:solidFill>
                <a:latin typeface="Segoe UI Semibold"/>
              </a:rPr>
              <a:t>WHAT IT 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38500" y="1804271"/>
            <a:ext cx="2520950" cy="29032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21820"/>
                </a:solidFill>
                <a:latin typeface="Georgia"/>
              </a:rPr>
              <a:t>A kind of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26150" y="1804271"/>
            <a:ext cx="2520950" cy="29032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21820"/>
                </a:solidFill>
                <a:latin typeface="Georgia"/>
              </a:rPr>
              <a:t>A system built around 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13800" y="1804271"/>
            <a:ext cx="2520950" cy="29032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21820"/>
                </a:solidFill>
                <a:latin typeface="Georgia"/>
              </a:rPr>
              <a:t>A property of that system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95450" y="2198180"/>
            <a:ext cx="9772650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695450" y="2283371"/>
            <a:ext cx="1333500" cy="2181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spc="39">
                <a:solidFill>
                  <a:srgbClr val="8B96A2"/>
                </a:solidFill>
                <a:latin typeface="Segoe UI Semibold"/>
              </a:rPr>
              <a:t>CAN IT ACT?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38500" y="2246993"/>
            <a:ext cx="2520950" cy="29032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21820"/>
                </a:solidFill>
                <a:latin typeface="Georgia"/>
              </a:rPr>
              <a:t>No — text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26150" y="2246993"/>
            <a:ext cx="2520950" cy="29032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21820"/>
                </a:solidFill>
                <a:latin typeface="Georgia"/>
              </a:rPr>
              <a:t>Yes, via your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13800" y="2246993"/>
            <a:ext cx="2520950" cy="29032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21820"/>
                </a:solidFill>
                <a:latin typeface="Georgia"/>
              </a:rPr>
              <a:t>Yes, via your code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695450" y="2640902"/>
            <a:ext cx="9772650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695450" y="2726093"/>
            <a:ext cx="1333500" cy="2181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spc="39">
                <a:solidFill>
                  <a:srgbClr val="8B96A2"/>
                </a:solidFill>
                <a:latin typeface="Segoe UI Semibold"/>
              </a:rPr>
              <a:t>WHO PICKS STEPS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38500" y="2689715"/>
            <a:ext cx="2520950" cy="29032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21820"/>
                </a:solidFill>
                <a:latin typeface="Georgia"/>
              </a:rPr>
              <a:t>You, entirely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26150" y="2689715"/>
            <a:ext cx="2520950" cy="29032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21820"/>
                </a:solidFill>
                <a:latin typeface="Georgia"/>
              </a:rPr>
              <a:t>You write the loop; it picks tools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13800" y="2689715"/>
            <a:ext cx="2520950" cy="29032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21820"/>
                </a:solidFill>
                <a:latin typeface="Georgia"/>
              </a:rPr>
              <a:t>The model, at run time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695450" y="3083624"/>
            <a:ext cx="9772650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695450" y="3168815"/>
            <a:ext cx="1333500" cy="2181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spc="39">
                <a:solidFill>
                  <a:srgbClr val="8B96A2"/>
                </a:solidFill>
                <a:latin typeface="Segoe UI Semibold"/>
              </a:rPr>
              <a:t>COST PER TASK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38500" y="3132437"/>
            <a:ext cx="2520950" cy="29032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21820"/>
                </a:solidFill>
                <a:latin typeface="Georgia"/>
              </a:rPr>
              <a:t>Fixed, known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26150" y="3132437"/>
            <a:ext cx="2520950" cy="29032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21820"/>
                </a:solidFill>
                <a:latin typeface="Georgia"/>
              </a:rPr>
              <a:t>A few calls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13800" y="3132437"/>
            <a:ext cx="2520950" cy="29032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21820"/>
                </a:solidFill>
                <a:latin typeface="Georgia"/>
              </a:rPr>
              <a:t>Unbounded unless you bound it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695450" y="3526346"/>
            <a:ext cx="9772650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695450" y="3611537"/>
            <a:ext cx="1333500" cy="2181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spc="39">
                <a:solidFill>
                  <a:srgbClr val="8B96A2"/>
                </a:solidFill>
                <a:latin typeface="Segoe UI Semibold"/>
              </a:rPr>
              <a:t>FAILS BY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38500" y="3575159"/>
            <a:ext cx="2520950" cy="29032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21820"/>
                </a:solidFill>
                <a:latin typeface="Georgia"/>
              </a:rPr>
              <a:t>Confident wrong answers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26150" y="3575159"/>
            <a:ext cx="2520950" cy="29032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21820"/>
                </a:solidFill>
                <a:latin typeface="Georgia"/>
              </a:rPr>
              <a:t>Wrong tool, bad arguments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13800" y="3575159"/>
            <a:ext cx="2520950" cy="5234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21820"/>
                </a:solidFill>
                <a:latin typeface="Georgia"/>
              </a:rPr>
              <a:t>Looping, drifting, compounding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21820"/>
                </a:solidFill>
                <a:latin typeface="Georgia"/>
              </a:rPr>
              <a:t>errors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695450" y="4202240"/>
            <a:ext cx="9772650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695450" y="4287431"/>
            <a:ext cx="1333500" cy="21812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spc="39">
                <a:solidFill>
                  <a:srgbClr val="8B96A2"/>
                </a:solidFill>
                <a:latin typeface="Segoe UI Semibold"/>
              </a:rPr>
              <a:t>TEST IT BY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38500" y="4251053"/>
            <a:ext cx="2520950" cy="29032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21820"/>
                </a:solidFill>
                <a:latin typeface="Georgia"/>
              </a:rPr>
              <a:t>Scoring outputs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26150" y="4251053"/>
            <a:ext cx="2520950" cy="29032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21820"/>
                </a:solidFill>
                <a:latin typeface="Georgia"/>
              </a:rPr>
              <a:t>Scoring outputs + call traces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13800" y="4251053"/>
            <a:ext cx="2520950" cy="5234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21820"/>
                </a:solidFill>
                <a:latin typeface="Georgia"/>
              </a:rPr>
              <a:t>Trajectory review — much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21820"/>
                </a:solidFill>
                <a:latin typeface="Georgia"/>
              </a:rPr>
              <a:t>harder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695450" y="4878134"/>
            <a:ext cx="9772650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200150" y="552450"/>
            <a:ext cx="0" cy="571500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709612" y="595312"/>
            <a:ext cx="104775" cy="104775"/>
          </a:xfrm>
          <a:prstGeom prst="ellipse">
            <a:avLst/>
          </a:prstGeom>
          <a:solidFill>
            <a:srgbClr val="A9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0550" y="952500"/>
            <a:ext cx="342900" cy="4914900"/>
          </a:xfrm>
          <a:prstGeom prst="rect">
            <a:avLst/>
          </a:prstGeom>
          <a:noFill/>
        </p:spPr>
        <p:txBody>
          <a:bodyPr wrap="none" lIns="0" rIns="0" tIns="0" bIns="0" anchor="ctr" vert="vert270">
            <a:noAutofit/>
          </a:bodyPr>
          <a:lstStyle/>
          <a:p>
            <a:pPr algn="ctr"/>
            <a:r>
              <a:rPr sz="825" spc="157">
                <a:solidFill>
                  <a:srgbClr val="8B96A2"/>
                </a:solidFill>
                <a:latin typeface="Segoe UI Semibold"/>
              </a:rPr>
              <a:t>CORRECTIONS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6077331"/>
            <a:ext cx="5715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125"/>
              </a:lnSpc>
            </a:pPr>
            <a:r>
              <a:rPr sz="900" b="0" i="0">
                <a:solidFill>
                  <a:srgbClr val="8B96A2"/>
                </a:solidFill>
                <a:latin typeface="Consolas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5450" y="518160"/>
            <a:ext cx="977265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 spc="169">
                <a:solidFill>
                  <a:srgbClr val="A93A2C"/>
                </a:solidFill>
                <a:latin typeface="Segoe UI Semibold"/>
              </a:rPr>
              <a:t>REALITY 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5450" y="739597"/>
            <a:ext cx="9772650" cy="5076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547"/>
              </a:lnSpc>
              <a:spcBef>
                <a:spcPts val="0"/>
              </a:spcBef>
              <a:spcAft>
                <a:spcPts val="0"/>
              </a:spcAft>
            </a:pPr>
            <a:r>
              <a:rPr sz="3225" b="1" i="0">
                <a:solidFill>
                  <a:srgbClr val="121820"/>
                </a:solidFill>
                <a:latin typeface="Segoe UI"/>
              </a:rPr>
              <a:t>What actually goes wrong in production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695450" y="1526858"/>
            <a:ext cx="4724400" cy="1399604"/>
          </a:xfrm>
          <a:prstGeom prst="rect">
            <a:avLst/>
          </a:prstGeom>
          <a:solidFill>
            <a:srgbClr val="F5F7F9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95450" y="1526858"/>
            <a:ext cx="4724400" cy="28575"/>
          </a:xfrm>
          <a:prstGeom prst="rect">
            <a:avLst/>
          </a:prstGeom>
          <a:solidFill>
            <a:srgbClr val="A9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05000" y="1663065"/>
            <a:ext cx="4305300" cy="2833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>
                <a:solidFill>
                  <a:srgbClr val="A93A2C"/>
                </a:solidFill>
                <a:latin typeface="Segoe UI"/>
              </a:rPr>
              <a:t>Errors compound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05000" y="1884281"/>
            <a:ext cx="4305300" cy="5711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515C68"/>
                </a:solidFill>
                <a:latin typeface="Georgia"/>
              </a:rPr>
              <a:t>95% accurate per step is 60% over ten steps. Long</a:t>
            </a:r>
          </a:p>
          <a:p>
            <a:pPr>
              <a:lnSpc>
                <a:spcPts val="20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515C68"/>
                </a:solidFill>
                <a:latin typeface="Georgia"/>
              </a:rPr>
              <a:t>autonomous chains are where this becomes visible.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43700" y="1526858"/>
            <a:ext cx="4724400" cy="1399604"/>
          </a:xfrm>
          <a:prstGeom prst="rect">
            <a:avLst/>
          </a:prstGeom>
          <a:solidFill>
            <a:srgbClr val="F5F7F9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43700" y="1526858"/>
            <a:ext cx="4724400" cy="28575"/>
          </a:xfrm>
          <a:prstGeom prst="rect">
            <a:avLst/>
          </a:prstGeom>
          <a:solidFill>
            <a:srgbClr val="A9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53250" y="1663065"/>
            <a:ext cx="4305300" cy="2833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>
                <a:solidFill>
                  <a:srgbClr val="A93A2C"/>
                </a:solidFill>
                <a:latin typeface="Segoe UI"/>
              </a:rPr>
              <a:t>Cost runs away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3250" y="1884281"/>
            <a:ext cx="4305300" cy="5711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515C68"/>
                </a:solidFill>
                <a:latin typeface="Georgia"/>
              </a:rPr>
              <a:t>A loop with no iteration cap and a paid API on the</a:t>
            </a:r>
          </a:p>
          <a:p>
            <a:pPr>
              <a:lnSpc>
                <a:spcPts val="20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515C68"/>
                </a:solidFill>
                <a:latin typeface="Georgia"/>
              </a:rPr>
              <a:t>other end. Set a spend limit before your first run.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95450" y="3136011"/>
            <a:ext cx="4724400" cy="1399604"/>
          </a:xfrm>
          <a:prstGeom prst="rect">
            <a:avLst/>
          </a:prstGeom>
          <a:solidFill>
            <a:srgbClr val="F5F7F9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95450" y="3136011"/>
            <a:ext cx="4724400" cy="28575"/>
          </a:xfrm>
          <a:prstGeom prst="rect">
            <a:avLst/>
          </a:prstGeom>
          <a:solidFill>
            <a:srgbClr val="A9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05000" y="3272218"/>
            <a:ext cx="4305300" cy="2833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>
                <a:solidFill>
                  <a:srgbClr val="A93A2C"/>
                </a:solidFill>
                <a:latin typeface="Segoe UI"/>
              </a:rPr>
              <a:t>No audit trail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05000" y="3493435"/>
            <a:ext cx="4305300" cy="5711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515C68"/>
                </a:solidFill>
                <a:latin typeface="Georgia"/>
              </a:rPr>
              <a:t>When routing goes wrong, someone has to say why.</a:t>
            </a:r>
          </a:p>
          <a:p>
            <a:pPr>
              <a:lnSpc>
                <a:spcPts val="20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515C68"/>
                </a:solidFill>
                <a:latin typeface="Georgia"/>
              </a:rPr>
              <a:t>Design the log before you write the loop.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43700" y="3136011"/>
            <a:ext cx="4724400" cy="1399604"/>
          </a:xfrm>
          <a:prstGeom prst="rect">
            <a:avLst/>
          </a:prstGeom>
          <a:solidFill>
            <a:srgbClr val="F5F7F9"/>
          </a:solidFill>
          <a:ln w="9525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43700" y="3136011"/>
            <a:ext cx="4724400" cy="28575"/>
          </a:xfrm>
          <a:prstGeom prst="rect">
            <a:avLst/>
          </a:prstGeom>
          <a:solidFill>
            <a:srgbClr val="A9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53250" y="3272218"/>
            <a:ext cx="4305300" cy="28336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781"/>
              </a:lnSpc>
              <a:spcBef>
                <a:spcPts val="0"/>
              </a:spcBef>
              <a:spcAft>
                <a:spcPts val="0"/>
              </a:spcAft>
            </a:pPr>
            <a:r>
              <a:rPr sz="1425" b="1" i="0">
                <a:solidFill>
                  <a:srgbClr val="A93A2C"/>
                </a:solidFill>
                <a:latin typeface="Segoe UI"/>
              </a:rPr>
              <a:t>Injection via tool results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3250" y="3493435"/>
            <a:ext cx="4305300" cy="82810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0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515C68"/>
                </a:solidFill>
                <a:latin typeface="Georgia"/>
              </a:rPr>
              <a:t>Text a tool returns is untrusted input. A fetched</a:t>
            </a:r>
          </a:p>
          <a:p>
            <a:pPr>
              <a:lnSpc>
                <a:spcPts val="20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515C68"/>
                </a:solidFill>
                <a:latin typeface="Georgia"/>
              </a:rPr>
              <a:t>page can carry instructions — treat results as data,</a:t>
            </a:r>
          </a:p>
          <a:p>
            <a:pPr>
              <a:lnSpc>
                <a:spcPts val="2023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>
                <a:solidFill>
                  <a:srgbClr val="515C68"/>
                </a:solidFill>
                <a:latin typeface="Georgia"/>
              </a:rPr>
              <a:t>never orders.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200150" y="552450"/>
            <a:ext cx="0" cy="571500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709612" y="595312"/>
            <a:ext cx="104775" cy="104775"/>
          </a:xfrm>
          <a:prstGeom prst="ellipse">
            <a:avLst/>
          </a:prstGeom>
          <a:solidFill>
            <a:srgbClr val="A9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0550" y="952500"/>
            <a:ext cx="342900" cy="4914900"/>
          </a:xfrm>
          <a:prstGeom prst="rect">
            <a:avLst/>
          </a:prstGeom>
          <a:noFill/>
        </p:spPr>
        <p:txBody>
          <a:bodyPr wrap="none" lIns="0" rIns="0" tIns="0" bIns="0" anchor="ctr" vert="vert270">
            <a:noAutofit/>
          </a:bodyPr>
          <a:lstStyle/>
          <a:p>
            <a:pPr algn="ctr"/>
            <a:r>
              <a:rPr sz="825" spc="157">
                <a:solidFill>
                  <a:srgbClr val="8B96A2"/>
                </a:solidFill>
                <a:latin typeface="Segoe UI Semibold"/>
              </a:rPr>
              <a:t>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250" y="6077331"/>
            <a:ext cx="5715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125"/>
              </a:lnSpc>
            </a:pPr>
            <a:r>
              <a:rPr sz="900" b="0" i="0">
                <a:solidFill>
                  <a:srgbClr val="8B96A2"/>
                </a:solidFill>
                <a:latin typeface="Consolas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5450" y="518160"/>
            <a:ext cx="9772650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 spc="169">
                <a:solidFill>
                  <a:srgbClr val="A93A2C"/>
                </a:solidFill>
                <a:latin typeface="Segoe UI Semibold"/>
              </a:rPr>
              <a:t>HANDS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5450" y="739597"/>
            <a:ext cx="9772650" cy="50768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3547"/>
              </a:lnSpc>
              <a:spcBef>
                <a:spcPts val="0"/>
              </a:spcBef>
              <a:spcAft>
                <a:spcPts val="0"/>
              </a:spcAft>
            </a:pPr>
            <a:r>
              <a:rPr sz="3225" b="1" i="0">
                <a:solidFill>
                  <a:srgbClr val="121820"/>
                </a:solidFill>
                <a:latin typeface="Segoe UI"/>
              </a:rPr>
              <a:t>Build the three layers yourself</a:t>
            </a:r>
          </a:p>
        </p:txBody>
      </p:sp>
      <p:sp>
        <p:nvSpPr>
          <p:cNvPr id="9" name="Rectangle 8"/>
          <p:cNvSpPr/>
          <p:nvPr/>
        </p:nvSpPr>
        <p:spPr>
          <a:xfrm>
            <a:off x="1695450" y="1662684"/>
            <a:ext cx="85725" cy="19050"/>
          </a:xfrm>
          <a:prstGeom prst="rect">
            <a:avLst/>
          </a:prstGeom>
          <a:solidFill>
            <a:srgbClr val="A9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43100" y="1452197"/>
            <a:ext cx="9525000" cy="36823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>
                <a:solidFill>
                  <a:srgbClr val="121820"/>
                </a:solidFill>
                <a:latin typeface="Georgia"/>
              </a:rPr>
              <a:t>Lessons 00–02</a:t>
            </a:r>
            <a:r>
              <a:rPr sz="1725" b="0" i="0">
                <a:solidFill>
                  <a:srgbClr val="121820"/>
                </a:solidFill>
                <a:latin typeface="Georgia"/>
              </a:rPr>
              <a:t> — one call in, one answer out. Feel the absence of memory.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95450" y="2116646"/>
            <a:ext cx="85725" cy="19050"/>
          </a:xfrm>
          <a:prstGeom prst="rect">
            <a:avLst/>
          </a:prstGeom>
          <a:solidFill>
            <a:srgbClr val="A9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43100" y="1906158"/>
            <a:ext cx="9525000" cy="36823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>
                <a:solidFill>
                  <a:srgbClr val="121820"/>
                </a:solidFill>
                <a:latin typeface="Georgia"/>
              </a:rPr>
              <a:t>Lesson 03</a:t>
            </a:r>
            <a:r>
              <a:rPr sz="1725" b="0" i="0">
                <a:solidFill>
                  <a:srgbClr val="121820"/>
                </a:solidFill>
                <a:latin typeface="Georgia"/>
              </a:rPr>
              <a:t> — add a tool, then write the loop by hand once so it stops being magic.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95450" y="2570607"/>
            <a:ext cx="85725" cy="19050"/>
          </a:xfrm>
          <a:prstGeom prst="rect">
            <a:avLst/>
          </a:prstGeom>
          <a:solidFill>
            <a:srgbClr val="A9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43100" y="2360120"/>
            <a:ext cx="9525000" cy="36823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>
                <a:solidFill>
                  <a:srgbClr val="121820"/>
                </a:solidFill>
                <a:latin typeface="Georgia"/>
              </a:rPr>
              <a:t>Lessons 04–05</a:t>
            </a:r>
            <a:r>
              <a:rPr sz="1725" b="0" i="0">
                <a:solidFill>
                  <a:srgbClr val="121820"/>
                </a:solidFill>
                <a:latin typeface="Georgia"/>
              </a:rPr>
              <a:t> — retrieval, and the fixed pipeline that is </a:t>
            </a:r>
            <a:r>
              <a:rPr sz="1725" b="0" i="1">
                <a:solidFill>
                  <a:srgbClr val="121820"/>
                </a:solidFill>
                <a:latin typeface="Georgia"/>
              </a:rPr>
              <a:t>not</a:t>
            </a:r>
            <a:r>
              <a:rPr sz="1725" b="0" i="0">
                <a:solidFill>
                  <a:srgbClr val="121820"/>
                </a:solidFill>
                <a:latin typeface="Georgia"/>
              </a:rPr>
              <a:t> agentic.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95450" y="3024568"/>
            <a:ext cx="85725" cy="19050"/>
          </a:xfrm>
          <a:prstGeom prst="rect">
            <a:avLst/>
          </a:prstGeom>
          <a:solidFill>
            <a:srgbClr val="A9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43100" y="2814081"/>
            <a:ext cx="9525000" cy="36823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>
                <a:solidFill>
                  <a:srgbClr val="121820"/>
                </a:solidFill>
                <a:latin typeface="Georgia"/>
              </a:rPr>
              <a:t>Lesson 06</a:t>
            </a:r>
            <a:r>
              <a:rPr sz="1725" b="0" i="0">
                <a:solidFill>
                  <a:srgbClr val="121820"/>
                </a:solidFill>
                <a:latin typeface="Georgia"/>
              </a:rPr>
              <a:t> — hand over the control flow, and put the bounds back 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95450" y="3478530"/>
            <a:ext cx="85725" cy="19050"/>
          </a:xfrm>
          <a:prstGeom prst="rect">
            <a:avLst/>
          </a:prstGeom>
          <a:solidFill>
            <a:srgbClr val="A93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43100" y="3268043"/>
            <a:ext cx="9525000" cy="36823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449"/>
              </a:lnSpc>
              <a:spcBef>
                <a:spcPts val="0"/>
              </a:spcBef>
              <a:spcAft>
                <a:spcPts val="0"/>
              </a:spcAft>
            </a:pPr>
            <a:r>
              <a:rPr sz="1725" b="1" i="0">
                <a:solidFill>
                  <a:srgbClr val="121820"/>
                </a:solidFill>
                <a:latin typeface="Georgia"/>
              </a:rPr>
              <a:t>Lesson 07</a:t>
            </a:r>
            <a:r>
              <a:rPr sz="1725" b="0" i="0">
                <a:solidFill>
                  <a:srgbClr val="121820"/>
                </a:solidFill>
                <a:latin typeface="Georgia"/>
              </a:rPr>
              <a:t> — measure it, because past this point intuition stops working.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695450" y="5505450"/>
            <a:ext cx="9772650" cy="0"/>
          </a:xfrm>
          <a:prstGeom prst="line">
            <a:avLst/>
          </a:prstGeom>
          <a:ln w="9525">
            <a:solidFill>
              <a:srgbClr val="E3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695450" y="5648706"/>
            <a:ext cx="9772650" cy="609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15C68"/>
                </a:solidFill>
                <a:latin typeface="Georgia"/>
              </a:rPr>
              <a:t>If you remember one thing: </a:t>
            </a:r>
            <a:r>
              <a:rPr sz="1500" b="1" i="0">
                <a:solidFill>
                  <a:srgbClr val="121820"/>
                </a:solidFill>
                <a:latin typeface="Georgia"/>
              </a:rPr>
              <a:t>the model never does anything. It produces text, and your code decides</a:t>
            </a:r>
          </a:p>
          <a:p>
            <a:pPr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21820"/>
                </a:solidFill>
                <a:latin typeface="Georgia"/>
              </a:rPr>
              <a:t>what that text is worth.</a:t>
            </a:r>
            <a:r>
              <a:rPr sz="1500" b="0" i="0">
                <a:solidFill>
                  <a:srgbClr val="515C68"/>
                </a:solidFill>
                <a:latin typeface="Georgia"/>
              </a:rPr>
              <a:t> Everything else is a detail.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